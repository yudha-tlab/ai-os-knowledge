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duct" id="{cbe258f9-2133-0d34-c578-8bae973f77ff}">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Technical" id="{002c6439-ee86-f35d-e7b8-d3aab799fb59}">
          <p14:sldIdLst>
            <p14:sldId id="279"/>
          </p14:sldIdLst>
        </p14:section>
        <p14:section name="Demo" id="{0781c577-c61f-8da7-2971-002bcec27332}">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kunci. Alur dari kiri ke kanan: lead masuk, diproses oleh core yang sama untuk semua tenant, lalu keluar sebagai reporting dan data deal ke sistem klien. Kebutuhan spesifik klien ditangani lewat configuration dan webhook, bukan fork code. AI adalah enhancement layer. Control plane (belum dibangun) adalah tempat TLab mengelola plan, quota, dan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 sebagai estimasi firma riset. Metodologi keduanya tidak dipublikasikan secara rinci.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595360" y="-1097280"/>
            <a:ext cx="5029200" cy="5029200"/>
          </a:xfrm>
          <a:prstGeom prst="ellipse">
            <a:avLst/>
          </a:prstGeom>
          <a:solidFill>
            <a:srgbClr val="6D4AFF">
              <a:alpha val="45000"/>
            </a:srgbClr>
          </a:solidFill>
          <a:ln w="12700">
            <a:solidFill>
              <a:srgbClr val="6D4AFF"/>
            </a:solidFill>
            <a:prstDash val="solid"/>
          </a:ln>
        </p:spPr>
      </p:sp>
      <p:sp>
        <p:nvSpPr>
          <p:cNvPr id="3" name="Shape 1"/>
          <p:cNvSpPr/>
          <p:nvPr/>
        </p:nvSpPr>
        <p:spPr>
          <a:xfrm>
            <a:off x="9692640" y="3474720"/>
            <a:ext cx="3657600" cy="3657600"/>
          </a:xfrm>
          <a:prstGeom prst="ellipse">
            <a:avLst/>
          </a:prstGeom>
          <a:solidFill>
            <a:srgbClr val="F5A524">
              <a:alpha val="30000"/>
            </a:srgbClr>
          </a:solidFill>
          <a:ln w="12700">
            <a:solidFill>
              <a:srgbClr val="F5A524"/>
            </a:solidFill>
            <a:prstDash val="solid"/>
          </a:ln>
        </p:spPr>
      </p:sp>
      <p:sp>
        <p:nvSpPr>
          <p:cNvPr id="4" name="Text 2"/>
          <p:cNvSpPr txBox="1"/>
          <p:nvPr/>
        </p:nvSpPr>
        <p:spPr>
          <a:xfrm>
            <a:off x="731520" y="1371600"/>
            <a:ext cx="7315200" cy="365760"/>
          </a:xfrm>
          <a:prstGeom prst="rect">
            <a:avLst/>
          </a:prstGeom>
          <a:noFill/>
          <a:ln/>
        </p:spPr>
        <p:txBody>
          <a:bodyPr wrap="square" lIns="0" tIns="0" rIns="0" bIns="0" rtlCol="0" anchor="ctr"/>
          <a:lstStyle/>
          <a:p>
            <a:pPr indent="0" marL="0">
              <a:buNone/>
            </a:pPr>
            <a:r>
              <a:rPr lang="en-US" sz="1400" b="1" spc="400" kern="0" dirty="0">
                <a:solidFill>
                  <a:srgbClr val="F5A524"/>
                </a:solidFill>
              </a:rPr>
              <a:t>SECTION 1  |  PRODUCT</a:t>
            </a:r>
            <a:endParaRPr lang="en-US" sz="1400" dirty="0"/>
          </a:p>
        </p:txBody>
      </p:sp>
      <p:sp>
        <p:nvSpPr>
          <p:cNvPr id="5" name="Text 3"/>
          <p:cNvSpPr txBox="1"/>
          <p:nvPr/>
        </p:nvSpPr>
        <p:spPr>
          <a:xfrm>
            <a:off x="731520" y="1828800"/>
            <a:ext cx="82296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Sales CRM untuk Perusahaan Indonesia</a:t>
            </a:r>
            <a:endParaRPr lang="en-US" sz="4400" dirty="0"/>
          </a:p>
        </p:txBody>
      </p:sp>
      <p:sp>
        <p:nvSpPr>
          <p:cNvPr id="6" name="Text 4"/>
          <p:cNvSpPr txBox="1"/>
          <p:nvPr/>
        </p:nvSpPr>
        <p:spPr>
          <a:xfrm>
            <a:off x="731520" y="3840480"/>
            <a:ext cx="7498080" cy="822960"/>
          </a:xfrm>
          <a:prstGeom prst="rect">
            <a:avLst/>
          </a:prstGeom>
          <a:noFill/>
          <a:ln/>
        </p:spPr>
        <p:txBody>
          <a:bodyPr wrap="square" lIns="0" tIns="0" rIns="0" bIns="0" rtlCol="0" anchor="t"/>
          <a:lstStyle/>
          <a:p>
            <a:pPr indent="0" marL="0">
              <a:buNone/>
            </a:pPr>
            <a:r>
              <a:rPr lang="en-US" sz="2000" dirty="0">
                <a:solidFill>
                  <a:srgbClr val="CADCFC"/>
                </a:solidFill>
              </a:rPr>
              <a:t>Satu core platform yang configurable per tenant, terintegrasi ke sistem klien, dan diperkuat AI yang terkontrol.</a:t>
            </a:r>
            <a:endParaRPr lang="en-US" sz="2000" dirty="0"/>
          </a:p>
        </p:txBody>
      </p:sp>
      <p:sp>
        <p:nvSpPr>
          <p:cNvPr id="7" name="Text 5"/>
          <p:cNvSpPr txBox="1"/>
          <p:nvPr/>
        </p:nvSpPr>
        <p:spPr>
          <a:xfrm>
            <a:off x="731520" y="5943600"/>
            <a:ext cx="7315200" cy="365760"/>
          </a:xfrm>
          <a:prstGeom prst="rect">
            <a:avLst/>
          </a:prstGeom>
          <a:noFill/>
          <a:ln/>
        </p:spPr>
        <p:txBody>
          <a:bodyPr wrap="square" lIns="0" tIns="0" rIns="0" bIns="0" rtlCol="0" anchor="ctr"/>
          <a:lstStyle/>
          <a:p>
            <a:pPr indent="0" marL="0">
              <a:buNone/>
            </a:pPr>
            <a:r>
              <a:rPr lang="en-US" sz="1400" dirty="0">
                <a:solidFill>
                  <a:srgbClr val="8D99AE"/>
                </a:solidFill>
              </a:rPr>
              <a:t>Built by TLab  |  Bootcamp CRM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Revenue bocor di antara lead masuk dan deal closing</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2</a:t>
            </a:r>
            <a:endParaRPr lang="en-US" sz="1000" dirty="0"/>
          </a:p>
        </p:txBody>
      </p:sp>
      <p:sp>
        <p:nvSpPr>
          <p:cNvPr id="5" name="card"/>
          <p:cNvSpPr/>
          <p:nvPr/>
        </p:nvSpPr>
        <p:spPr>
          <a:xfrm>
            <a:off x="548640" y="1737360"/>
            <a:ext cx="5440680" cy="1965960"/>
          </a:xfrm>
          <a:prstGeom prst="roundRect">
            <a:avLst>
              <a:gd name="adj" fmla="val 3721"/>
            </a:avLst>
          </a:prstGeom>
          <a:solidFill>
            <a:srgbClr val="EEF1F7"/>
          </a:solidFill>
          <a:ln w="12700">
            <a:solidFill>
              <a:srgbClr val="EEF1F7"/>
            </a:solidFill>
            <a:prstDash val="solid"/>
          </a:ln>
        </p:spPr>
      </p:sp>
      <p:sp>
        <p:nvSpPr>
          <p:cNvPr id="6" name="Shape 4"/>
          <p:cNvSpPr/>
          <p:nvPr/>
        </p:nvSpPr>
        <p:spPr>
          <a:xfrm>
            <a:off x="868680" y="2057400"/>
            <a:ext cx="640080" cy="640080"/>
          </a:xfrm>
          <a:prstGeom prst="ellipse">
            <a:avLst/>
          </a:prstGeom>
          <a:solidFill>
            <a:srgbClr val="D1495B"/>
          </a:solidFill>
          <a:ln w="12700">
            <a:solidFill>
              <a:srgbClr val="D1495B"/>
            </a:solidFill>
            <a:prstDash val="solid"/>
          </a:ln>
        </p:spPr>
      </p:sp>
      <p:sp>
        <p:nvSpPr>
          <p:cNvPr id="7" name="Text 5"/>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737360" y="2011680"/>
            <a:ext cx="40233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Lead tanpa owner</a:t>
            </a:r>
            <a:endParaRPr lang="en-US" sz="2000" dirty="0"/>
          </a:p>
        </p:txBody>
      </p:sp>
      <p:sp>
        <p:nvSpPr>
          <p:cNvPr id="9" name="Text 7"/>
          <p:cNvSpPr txBox="1"/>
          <p:nvPr/>
        </p:nvSpPr>
        <p:spPr>
          <a:xfrm>
            <a:off x="1737360" y="2560320"/>
            <a:ext cx="4023360" cy="914400"/>
          </a:xfrm>
          <a:prstGeom prst="rect">
            <a:avLst/>
          </a:prstGeom>
          <a:noFill/>
          <a:ln/>
        </p:spPr>
        <p:txBody>
          <a:bodyPr wrap="square" lIns="0" tIns="0" rIns="0" bIns="0" rtlCol="0" anchor="t"/>
          <a:lstStyle/>
          <a:p>
            <a:pPr indent="0" marL="0">
              <a:buNone/>
            </a:pPr>
            <a:r>
              <a:rPr lang="en-US" sz="1600" dirty="0">
                <a:solidFill>
                  <a:srgbClr val="1B1F2A"/>
                </a:solidFill>
              </a:rPr>
              <a:t>Lead masuk tanpa PIC dan SLA follow-up yang jelas, sehingga response time tidak terukur.</a:t>
            </a:r>
            <a:endParaRPr lang="en-US" sz="1600" dirty="0"/>
          </a:p>
        </p:txBody>
      </p:sp>
      <p:sp>
        <p:nvSpPr>
          <p:cNvPr id="10" name="card"/>
          <p:cNvSpPr/>
          <p:nvPr/>
        </p:nvSpPr>
        <p:spPr>
          <a:xfrm>
            <a:off x="6172200" y="1737360"/>
            <a:ext cx="5440680" cy="1965960"/>
          </a:xfrm>
          <a:prstGeom prst="roundRect">
            <a:avLst>
              <a:gd name="adj" fmla="val 3721"/>
            </a:avLst>
          </a:prstGeom>
          <a:solidFill>
            <a:srgbClr val="EEF1F7"/>
          </a:solidFill>
          <a:ln w="12700">
            <a:solidFill>
              <a:srgbClr val="EEF1F7"/>
            </a:solidFill>
            <a:prstDash val="solid"/>
          </a:ln>
        </p:spPr>
      </p:sp>
      <p:sp>
        <p:nvSpPr>
          <p:cNvPr id="11" name="Shape 9"/>
          <p:cNvSpPr/>
          <p:nvPr/>
        </p:nvSpPr>
        <p:spPr>
          <a:xfrm>
            <a:off x="6492240" y="2057400"/>
            <a:ext cx="640080" cy="640080"/>
          </a:xfrm>
          <a:prstGeom prst="ellipse">
            <a:avLst/>
          </a:prstGeom>
          <a:solidFill>
            <a:srgbClr val="F5A524"/>
          </a:solidFill>
          <a:ln w="12700">
            <a:solidFill>
              <a:srgbClr val="F5A524"/>
            </a:solidFill>
            <a:prstDash val="solid"/>
          </a:ln>
        </p:spPr>
      </p:sp>
      <p:sp>
        <p:nvSpPr>
          <p:cNvPr id="12" name="Text 10"/>
          <p:cNvSpPr txBox="1"/>
          <p:nvPr/>
        </p:nvSpPr>
        <p:spPr>
          <a:xfrm>
            <a:off x="649224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7360920" y="2011680"/>
            <a:ext cx="40233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Pipeline tidak standar</a:t>
            </a:r>
            <a:endParaRPr lang="en-US" sz="2000" dirty="0"/>
          </a:p>
        </p:txBody>
      </p:sp>
      <p:sp>
        <p:nvSpPr>
          <p:cNvPr id="14" name="Text 12"/>
          <p:cNvSpPr txBox="1"/>
          <p:nvPr/>
        </p:nvSpPr>
        <p:spPr>
          <a:xfrm>
            <a:off x="7360920" y="2560320"/>
            <a:ext cx="4023360" cy="914400"/>
          </a:xfrm>
          <a:prstGeom prst="rect">
            <a:avLst/>
          </a:prstGeom>
          <a:noFill/>
          <a:ln/>
        </p:spPr>
        <p:txBody>
          <a:bodyPr wrap="square" lIns="0" tIns="0" rIns="0" bIns="0" rtlCol="0" anchor="t"/>
          <a:lstStyle/>
          <a:p>
            <a:pPr indent="0" marL="0">
              <a:buNone/>
            </a:pPr>
            <a:r>
              <a:rPr lang="en-US" sz="1600" dirty="0">
                <a:solidFill>
                  <a:srgbClr val="1B1F2A"/>
                </a:solidFill>
              </a:rPr>
              <a:t>Setiap tim punya stage sendiri. Forecast dan quota attainment sulit dipercaya.</a:t>
            </a:r>
            <a:endParaRPr lang="en-US" sz="1600" dirty="0"/>
          </a:p>
        </p:txBody>
      </p:sp>
      <p:sp>
        <p:nvSpPr>
          <p:cNvPr id="15" name="card"/>
          <p:cNvSpPr/>
          <p:nvPr/>
        </p:nvSpPr>
        <p:spPr>
          <a:xfrm>
            <a:off x="548640" y="3931920"/>
            <a:ext cx="5440680" cy="1965960"/>
          </a:xfrm>
          <a:prstGeom prst="roundRect">
            <a:avLst>
              <a:gd name="adj" fmla="val 3721"/>
            </a:avLst>
          </a:prstGeom>
          <a:solidFill>
            <a:srgbClr val="EEF1F7"/>
          </a:solidFill>
          <a:ln w="12700">
            <a:solidFill>
              <a:srgbClr val="EEF1F7"/>
            </a:solidFill>
            <a:prstDash val="solid"/>
          </a:ln>
        </p:spPr>
      </p:sp>
      <p:sp>
        <p:nvSpPr>
          <p:cNvPr id="16" name="Shape 14"/>
          <p:cNvSpPr/>
          <p:nvPr/>
        </p:nvSpPr>
        <p:spPr>
          <a:xfrm>
            <a:off x="868680" y="4251960"/>
            <a:ext cx="640080" cy="640080"/>
          </a:xfrm>
          <a:prstGeom prst="ellipse">
            <a:avLst/>
          </a:prstGeom>
          <a:solidFill>
            <a:srgbClr val="6D4AFF"/>
          </a:solidFill>
          <a:ln w="12700">
            <a:solidFill>
              <a:srgbClr val="6D4AFF"/>
            </a:solidFill>
            <a:prstDash val="solid"/>
          </a:ln>
        </p:spPr>
      </p:sp>
      <p:sp>
        <p:nvSpPr>
          <p:cNvPr id="17" name="Text 15"/>
          <p:cNvSpPr txBox="1"/>
          <p:nvPr/>
        </p:nvSpPr>
        <p:spPr>
          <a:xfrm>
            <a:off x="86868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1737360" y="4206240"/>
            <a:ext cx="40233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Win/loss reason tidak tercatat</a:t>
            </a:r>
            <a:endParaRPr lang="en-US" sz="2000" dirty="0"/>
          </a:p>
        </p:txBody>
      </p:sp>
      <p:sp>
        <p:nvSpPr>
          <p:cNvPr id="19" name="Text 17"/>
          <p:cNvSpPr txBox="1"/>
          <p:nvPr/>
        </p:nvSpPr>
        <p:spPr>
          <a:xfrm>
            <a:off x="1737360" y="4754880"/>
            <a:ext cx="4023360" cy="914400"/>
          </a:xfrm>
          <a:prstGeom prst="rect">
            <a:avLst/>
          </a:prstGeom>
          <a:noFill/>
          <a:ln/>
        </p:spPr>
        <p:txBody>
          <a:bodyPr wrap="square" lIns="0" tIns="0" rIns="0" bIns="0" rtlCol="0" anchor="t"/>
          <a:lstStyle/>
          <a:p>
            <a:pPr indent="0" marL="0">
              <a:buNone/>
            </a:pPr>
            <a:r>
              <a:rPr lang="en-US" sz="1600" dirty="0">
                <a:solidFill>
                  <a:srgbClr val="1B1F2A"/>
                </a:solidFill>
              </a:rPr>
              <a:t>Tim tidak bisa belajar dari deal yang menang maupun kalah.</a:t>
            </a:r>
            <a:endParaRPr lang="en-US" sz="1600" dirty="0"/>
          </a:p>
        </p:txBody>
      </p:sp>
      <p:sp>
        <p:nvSpPr>
          <p:cNvPr id="20" name="card"/>
          <p:cNvSpPr/>
          <p:nvPr/>
        </p:nvSpPr>
        <p:spPr>
          <a:xfrm>
            <a:off x="6172200" y="3931920"/>
            <a:ext cx="5440680" cy="1965960"/>
          </a:xfrm>
          <a:prstGeom prst="roundRect">
            <a:avLst>
              <a:gd name="adj" fmla="val 3721"/>
            </a:avLst>
          </a:prstGeom>
          <a:solidFill>
            <a:srgbClr val="EEF1F7"/>
          </a:solidFill>
          <a:ln w="12700">
            <a:solidFill>
              <a:srgbClr val="EEF1F7"/>
            </a:solidFill>
            <a:prstDash val="solid"/>
          </a:ln>
        </p:spPr>
      </p:sp>
      <p:sp>
        <p:nvSpPr>
          <p:cNvPr id="21" name="Shape 19"/>
          <p:cNvSpPr/>
          <p:nvPr/>
        </p:nvSpPr>
        <p:spPr>
          <a:xfrm>
            <a:off x="6492240" y="4251960"/>
            <a:ext cx="640080" cy="640080"/>
          </a:xfrm>
          <a:prstGeom prst="ellipse">
            <a:avLst/>
          </a:prstGeom>
          <a:solidFill>
            <a:srgbClr val="2A9D8F"/>
          </a:solidFill>
          <a:ln w="12700">
            <a:solidFill>
              <a:srgbClr val="2A9D8F"/>
            </a:solidFill>
            <a:prstDash val="solid"/>
          </a:ln>
        </p:spPr>
      </p:sp>
      <p:sp>
        <p:nvSpPr>
          <p:cNvPr id="22" name="Text 20"/>
          <p:cNvSpPr txBox="1"/>
          <p:nvPr/>
        </p:nvSpPr>
        <p:spPr>
          <a:xfrm>
            <a:off x="649224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1"/>
          <p:cNvSpPr txBox="1"/>
          <p:nvPr/>
        </p:nvSpPr>
        <p:spPr>
          <a:xfrm>
            <a:off x="7360920" y="4206240"/>
            <a:ext cx="40233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Customization mahal dan lama</a:t>
            </a:r>
            <a:endParaRPr lang="en-US" sz="2000" dirty="0"/>
          </a:p>
        </p:txBody>
      </p:sp>
      <p:sp>
        <p:nvSpPr>
          <p:cNvPr id="24" name="Text 22"/>
          <p:cNvSpPr txBox="1"/>
          <p:nvPr/>
        </p:nvSpPr>
        <p:spPr>
          <a:xfrm>
            <a:off x="7360920" y="4754880"/>
            <a:ext cx="4023360" cy="914400"/>
          </a:xfrm>
          <a:prstGeom prst="rect">
            <a:avLst/>
          </a:prstGeom>
          <a:noFill/>
          <a:ln/>
        </p:spPr>
        <p:txBody>
          <a:bodyPr wrap="square" lIns="0" tIns="0" rIns="0" bIns="0" rtlCol="0" anchor="t"/>
          <a:lstStyle/>
          <a:p>
            <a:pPr indent="0" marL="0">
              <a:buNone/>
            </a:pPr>
            <a:r>
              <a:rPr lang="en-US" sz="1600" dirty="0">
                <a:solidFill>
                  <a:srgbClr val="1B1F2A"/>
                </a:solidFill>
              </a:rPr>
              <a:t>Perubahan kecil di sistem lama berujung menjadi project berbulan-bulan.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Satu core platform, diperkuat configuration, integration &amp; AI</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3</a:t>
            </a:r>
            <a:endParaRPr lang="en-US" sz="1000" dirty="0"/>
          </a:p>
        </p:txBody>
      </p:sp>
      <p:sp>
        <p:nvSpPr>
          <p:cNvPr id="5" name="card"/>
          <p:cNvSpPr/>
          <p:nvPr/>
        </p:nvSpPr>
        <p:spPr>
          <a:xfrm>
            <a:off x="457200" y="1325880"/>
            <a:ext cx="2377440" cy="2743200"/>
          </a:xfrm>
          <a:prstGeom prst="roundRect">
            <a:avLst>
              <a:gd name="adj" fmla="val 3077"/>
            </a:avLst>
          </a:prstGeom>
          <a:solidFill>
            <a:srgbClr val="EEF1F7"/>
          </a:solidFill>
          <a:ln w="12700">
            <a:solidFill>
              <a:srgbClr val="EEF1F7"/>
            </a:solidFill>
            <a:prstDash val="solid"/>
          </a:ln>
        </p:spPr>
      </p:sp>
      <p:sp>
        <p:nvSpPr>
          <p:cNvPr id="6" name="Text 4"/>
          <p:cNvSpPr txBox="1"/>
          <p:nvPr/>
        </p:nvSpPr>
        <p:spPr>
          <a:xfrm>
            <a:off x="457200" y="1417320"/>
            <a:ext cx="2377440" cy="320040"/>
          </a:xfrm>
          <a:prstGeom prst="rect">
            <a:avLst/>
          </a:prstGeom>
          <a:noFill/>
          <a:ln/>
        </p:spPr>
        <p:txBody>
          <a:bodyPr wrap="square" lIns="0" tIns="0" rIns="0" bIns="0" rtlCol="0" anchor="ctr"/>
          <a:lstStyle/>
          <a:p>
            <a:pPr algn="ctr" indent="0" marL="0">
              <a:buNone/>
            </a:pPr>
            <a:r>
              <a:rPr lang="en-US" sz="1200" b="1" dirty="0">
                <a:solidFill>
                  <a:srgbClr val="5B6478"/>
                </a:solidFill>
              </a:rPr>
              <a:t>LEAD SOURCES</a:t>
            </a:r>
            <a:endParaRPr lang="en-US" sz="1200" dirty="0"/>
          </a:p>
        </p:txBody>
      </p:sp>
      <p:sp>
        <p:nvSpPr>
          <p:cNvPr id="7" name="Text 5"/>
          <p:cNvSpPr txBox="1"/>
          <p:nvPr/>
        </p:nvSpPr>
        <p:spPr>
          <a:xfrm>
            <a:off x="685800" y="1828800"/>
            <a:ext cx="2011680" cy="2103120"/>
          </a:xfrm>
          <a:prstGeom prst="rect">
            <a:avLst/>
          </a:prstGeom>
          <a:noFill/>
          <a:ln/>
        </p:spPr>
        <p:txBody>
          <a:bodyPr wrap="square" lIns="0" tIns="0" rIns="0" bIns="0" rtlCol="0" anchor="t"/>
          <a:lstStyle/>
          <a:p>
            <a:pPr indent="0" marL="0">
              <a:spcAft>
                <a:spcPts val="600"/>
              </a:spcAft>
              <a:buNone/>
            </a:pPr>
            <a:r>
              <a:rPr lang="en-US" sz="1500" dirty="0">
                <a:solidFill>
                  <a:srgbClr val="1B1F2A"/>
                </a:solidFill>
              </a:rPr>
              <a:t>Web form</a:t>
            </a:r>
            <a:endParaRPr lang="en-US" sz="1500" dirty="0"/>
          </a:p>
          <a:p>
            <a:pPr indent="0" marL="0">
              <a:spcAft>
                <a:spcPts val="600"/>
              </a:spcAft>
              <a:buNone/>
            </a:pPr>
            <a:r>
              <a:rPr lang="en-US" sz="1500" dirty="0">
                <a:solidFill>
                  <a:srgbClr val="1B1F2A"/>
                </a:solidFill>
              </a:rPr>
              <a:t>Import CSV</a:t>
            </a:r>
            <a:endParaRPr lang="en-US" sz="1500" dirty="0"/>
          </a:p>
          <a:p>
            <a:pPr indent="0" marL="0">
              <a:spcAft>
                <a:spcPts val="600"/>
              </a:spcAft>
              <a:buNone/>
            </a:pPr>
            <a:r>
              <a:rPr lang="en-US" sz="1500" dirty="0">
                <a:solidFill>
                  <a:srgbClr val="1B1F2A"/>
                </a:solidFill>
              </a:rPr>
              <a:t>Manual input</a:t>
            </a:r>
            <a:endParaRPr lang="en-US" sz="1500" dirty="0"/>
          </a:p>
          <a:p>
            <a:pPr indent="0" marL="0">
              <a:spcAft>
                <a:spcPts val="600"/>
              </a:spcAft>
              <a:buNone/>
            </a:pPr>
            <a:r>
              <a:rPr lang="en-US" sz="1500" dirty="0">
                <a:solidFill>
                  <a:srgbClr val="1B1F2A"/>
                </a:solidFill>
              </a:rPr>
              <a:t>Inbound webhook</a:t>
            </a:r>
            <a:endParaRPr lang="en-US" sz="1500" dirty="0"/>
          </a:p>
          <a:p>
            <a:pPr indent="0" marL="0">
              <a:spcAft>
                <a:spcPts val="600"/>
              </a:spcAft>
              <a:buNone/>
            </a:pPr>
            <a:r>
              <a:rPr lang="en-US" sz="1500" i="1" dirty="0">
                <a:solidFill>
                  <a:srgbClr val="5B6478"/>
                </a:solidFill>
              </a:rPr>
              <a:t>WhatsApp / Email *</a:t>
            </a:r>
            <a:endParaRPr lang="en-US" sz="1500" dirty="0"/>
          </a:p>
        </p:txBody>
      </p:sp>
      <p:sp>
        <p:nvSpPr>
          <p:cNvPr id="8" name="core"/>
          <p:cNvSpPr/>
          <p:nvPr/>
        </p:nvSpPr>
        <p:spPr>
          <a:xfrm>
            <a:off x="3200400" y="1325880"/>
            <a:ext cx="5669280" cy="2743200"/>
          </a:xfrm>
          <a:prstGeom prst="roundRect">
            <a:avLst>
              <a:gd name="adj" fmla="val 3333"/>
            </a:avLst>
          </a:prstGeom>
          <a:solidFill>
            <a:srgbClr val="14213D"/>
          </a:solidFill>
          <a:ln w="12700">
            <a:solidFill>
              <a:srgbClr val="14213D"/>
            </a:solidFill>
            <a:prstDash val="solid"/>
          </a:ln>
        </p:spPr>
      </p:sp>
      <p:sp>
        <p:nvSpPr>
          <p:cNvPr id="9" name="Text 7"/>
          <p:cNvSpPr txBox="1"/>
          <p:nvPr/>
        </p:nvSpPr>
        <p:spPr>
          <a:xfrm>
            <a:off x="3200400" y="1417320"/>
            <a:ext cx="5669280" cy="320040"/>
          </a:xfrm>
          <a:prstGeom prst="rect">
            <a:avLst/>
          </a:prstGeom>
          <a:noFill/>
          <a:ln/>
        </p:spPr>
        <p:txBody>
          <a:bodyPr wrap="square" lIns="0" tIns="0" rIns="0" bIns="0" rtlCol="0" anchor="ctr"/>
          <a:lstStyle/>
          <a:p>
            <a:pPr algn="ctr" indent="0" marL="0">
              <a:buNone/>
            </a:pPr>
            <a:r>
              <a:rPr lang="en-US" sz="1200" b="1" dirty="0">
                <a:solidFill>
                  <a:srgbClr val="CADCFC"/>
                </a:solidFill>
              </a:rPr>
              <a:t>CORE CRM  (shared across all tenants)</a:t>
            </a:r>
            <a:endParaRPr lang="en-US" sz="1200" dirty="0"/>
          </a:p>
        </p:txBody>
      </p:sp>
      <p:sp>
        <p:nvSpPr>
          <p:cNvPr id="10" name="Shape 8"/>
          <p:cNvSpPr/>
          <p:nvPr/>
        </p:nvSpPr>
        <p:spPr>
          <a:xfrm>
            <a:off x="3429000" y="1874520"/>
            <a:ext cx="1188720" cy="640080"/>
          </a:xfrm>
          <a:prstGeom prst="roundRect">
            <a:avLst>
              <a:gd name="adj" fmla="val 8571"/>
            </a:avLst>
          </a:prstGeom>
          <a:solidFill>
            <a:srgbClr val="FFFFFF"/>
          </a:solidFill>
          <a:ln w="12700">
            <a:solidFill>
              <a:srgbClr val="FFFFFF"/>
            </a:solidFill>
            <a:prstDash val="solid"/>
          </a:ln>
        </p:spPr>
      </p:sp>
      <p:sp>
        <p:nvSpPr>
          <p:cNvPr id="11" name="Text 9"/>
          <p:cNvSpPr txBox="1"/>
          <p:nvPr/>
        </p:nvSpPr>
        <p:spPr>
          <a:xfrm>
            <a:off x="3429000" y="1874520"/>
            <a:ext cx="1188720" cy="640080"/>
          </a:xfrm>
          <a:prstGeom prst="rect">
            <a:avLst/>
          </a:prstGeom>
          <a:noFill/>
          <a:ln/>
        </p:spPr>
        <p:txBody>
          <a:bodyPr wrap="square" lIns="0" tIns="0" rIns="0" bIns="0" rtlCol="0" anchor="ctr"/>
          <a:lstStyle/>
          <a:p>
            <a:pPr algn="ctr" indent="0" marL="0">
              <a:buNone/>
            </a:pPr>
            <a:r>
              <a:rPr lang="en-US" sz="1300" b="1" dirty="0">
                <a:solidFill>
                  <a:srgbClr val="14213D"/>
                </a:solidFill>
              </a:rPr>
              <a:t>Lead</a:t>
            </a:r>
            <a:endParaRPr lang="en-US" sz="1300" dirty="0"/>
          </a:p>
        </p:txBody>
      </p:sp>
      <p:sp>
        <p:nvSpPr>
          <p:cNvPr id="12" name="Text 10"/>
          <p:cNvSpPr txBox="1"/>
          <p:nvPr/>
        </p:nvSpPr>
        <p:spPr>
          <a:xfrm>
            <a:off x="4599432" y="1874520"/>
            <a:ext cx="219456" cy="640080"/>
          </a:xfrm>
          <a:prstGeom prst="rect">
            <a:avLst/>
          </a:prstGeom>
          <a:noFill/>
          <a:ln/>
        </p:spPr>
        <p:txBody>
          <a:bodyPr wrap="square" lIns="0" tIns="0" rIns="0" bIns="0" rtlCol="0" anchor="ctr"/>
          <a:lstStyle/>
          <a:p>
            <a:pPr algn="ctr" indent="0" marL="0">
              <a:buNone/>
            </a:pPr>
            <a:r>
              <a:rPr lang="en-US" sz="1000" dirty="0">
                <a:solidFill>
                  <a:srgbClr val="F5A524"/>
                </a:solidFill>
              </a:rPr>
              <a:t>►</a:t>
            </a:r>
            <a:endParaRPr lang="en-US" sz="1000" dirty="0"/>
          </a:p>
        </p:txBody>
      </p:sp>
      <p:sp>
        <p:nvSpPr>
          <p:cNvPr id="13" name="Shape 11"/>
          <p:cNvSpPr/>
          <p:nvPr/>
        </p:nvSpPr>
        <p:spPr>
          <a:xfrm>
            <a:off x="4800600" y="1874520"/>
            <a:ext cx="1188720" cy="640080"/>
          </a:xfrm>
          <a:prstGeom prst="roundRect">
            <a:avLst>
              <a:gd name="adj" fmla="val 8571"/>
            </a:avLst>
          </a:prstGeom>
          <a:solidFill>
            <a:srgbClr val="FFFFFF"/>
          </a:solidFill>
          <a:ln w="12700">
            <a:solidFill>
              <a:srgbClr val="FFFFFF"/>
            </a:solidFill>
            <a:prstDash val="solid"/>
          </a:ln>
        </p:spPr>
      </p:sp>
      <p:sp>
        <p:nvSpPr>
          <p:cNvPr id="14" name="Text 12"/>
          <p:cNvSpPr txBox="1"/>
          <p:nvPr/>
        </p:nvSpPr>
        <p:spPr>
          <a:xfrm>
            <a:off x="4800600" y="1874520"/>
            <a:ext cx="1188720" cy="640080"/>
          </a:xfrm>
          <a:prstGeom prst="rect">
            <a:avLst/>
          </a:prstGeom>
          <a:noFill/>
          <a:ln/>
        </p:spPr>
        <p:txBody>
          <a:bodyPr wrap="square" lIns="0" tIns="0" rIns="0" bIns="0" rtlCol="0" anchor="ctr"/>
          <a:lstStyle/>
          <a:p>
            <a:pPr algn="ctr" indent="0" marL="0">
              <a:buNone/>
            </a:pPr>
            <a:r>
              <a:rPr lang="en-US" sz="1300" b="1" dirty="0">
                <a:solidFill>
                  <a:srgbClr val="14213D"/>
                </a:solidFill>
              </a:rPr>
              <a:t>Assignment</a:t>
            </a:r>
            <a:endParaRPr lang="en-US" sz="1300" dirty="0"/>
          </a:p>
        </p:txBody>
      </p:sp>
      <p:sp>
        <p:nvSpPr>
          <p:cNvPr id="15" name="Text 13"/>
          <p:cNvSpPr txBox="1"/>
          <p:nvPr/>
        </p:nvSpPr>
        <p:spPr>
          <a:xfrm>
            <a:off x="5971032" y="1874520"/>
            <a:ext cx="219456" cy="640080"/>
          </a:xfrm>
          <a:prstGeom prst="rect">
            <a:avLst/>
          </a:prstGeom>
          <a:noFill/>
          <a:ln/>
        </p:spPr>
        <p:txBody>
          <a:bodyPr wrap="square" lIns="0" tIns="0" rIns="0" bIns="0" rtlCol="0" anchor="ctr"/>
          <a:lstStyle/>
          <a:p>
            <a:pPr algn="ctr" indent="0" marL="0">
              <a:buNone/>
            </a:pPr>
            <a:r>
              <a:rPr lang="en-US" sz="1000" dirty="0">
                <a:solidFill>
                  <a:srgbClr val="F5A524"/>
                </a:solidFill>
              </a:rPr>
              <a:t>►</a:t>
            </a:r>
            <a:endParaRPr lang="en-US" sz="1000" dirty="0"/>
          </a:p>
        </p:txBody>
      </p:sp>
      <p:sp>
        <p:nvSpPr>
          <p:cNvPr id="16" name="Shape 14"/>
          <p:cNvSpPr/>
          <p:nvPr/>
        </p:nvSpPr>
        <p:spPr>
          <a:xfrm>
            <a:off x="6172200" y="1874520"/>
            <a:ext cx="1188720" cy="640080"/>
          </a:xfrm>
          <a:prstGeom prst="roundRect">
            <a:avLst>
              <a:gd name="adj" fmla="val 8571"/>
            </a:avLst>
          </a:prstGeom>
          <a:solidFill>
            <a:srgbClr val="FFFFFF"/>
          </a:solidFill>
          <a:ln w="12700">
            <a:solidFill>
              <a:srgbClr val="FFFFFF"/>
            </a:solidFill>
            <a:prstDash val="solid"/>
          </a:ln>
        </p:spPr>
      </p:sp>
      <p:sp>
        <p:nvSpPr>
          <p:cNvPr id="17" name="Text 15"/>
          <p:cNvSpPr txBox="1"/>
          <p:nvPr/>
        </p:nvSpPr>
        <p:spPr>
          <a:xfrm>
            <a:off x="6172200" y="1874520"/>
            <a:ext cx="1188720" cy="640080"/>
          </a:xfrm>
          <a:prstGeom prst="rect">
            <a:avLst/>
          </a:prstGeom>
          <a:noFill/>
          <a:ln/>
        </p:spPr>
        <p:txBody>
          <a:bodyPr wrap="square" lIns="0" tIns="0" rIns="0" bIns="0" rtlCol="0" anchor="ctr"/>
          <a:lstStyle/>
          <a:p>
            <a:pPr algn="ctr" indent="0" marL="0">
              <a:buNone/>
            </a:pPr>
            <a:r>
              <a:rPr lang="en-US" sz="1300" b="1" dirty="0">
                <a:solidFill>
                  <a:srgbClr val="14213D"/>
                </a:solidFill>
              </a:rPr>
              <a:t>Qualification</a:t>
            </a:r>
            <a:endParaRPr lang="en-US" sz="1300" dirty="0"/>
          </a:p>
        </p:txBody>
      </p:sp>
      <p:sp>
        <p:nvSpPr>
          <p:cNvPr id="18" name="Text 16"/>
          <p:cNvSpPr txBox="1"/>
          <p:nvPr/>
        </p:nvSpPr>
        <p:spPr>
          <a:xfrm>
            <a:off x="7342632" y="1874520"/>
            <a:ext cx="219456" cy="640080"/>
          </a:xfrm>
          <a:prstGeom prst="rect">
            <a:avLst/>
          </a:prstGeom>
          <a:noFill/>
          <a:ln/>
        </p:spPr>
        <p:txBody>
          <a:bodyPr wrap="square" lIns="0" tIns="0" rIns="0" bIns="0" rtlCol="0" anchor="ctr"/>
          <a:lstStyle/>
          <a:p>
            <a:pPr algn="ctr" indent="0" marL="0">
              <a:buNone/>
            </a:pPr>
            <a:r>
              <a:rPr lang="en-US" sz="1000" dirty="0">
                <a:solidFill>
                  <a:srgbClr val="F5A524"/>
                </a:solidFill>
              </a:rPr>
              <a:t>►</a:t>
            </a:r>
            <a:endParaRPr lang="en-US" sz="1000" dirty="0"/>
          </a:p>
        </p:txBody>
      </p:sp>
      <p:sp>
        <p:nvSpPr>
          <p:cNvPr id="19" name="Shape 17"/>
          <p:cNvSpPr/>
          <p:nvPr/>
        </p:nvSpPr>
        <p:spPr>
          <a:xfrm>
            <a:off x="7543800" y="1874520"/>
            <a:ext cx="1188720" cy="640080"/>
          </a:xfrm>
          <a:prstGeom prst="roundRect">
            <a:avLst>
              <a:gd name="adj" fmla="val 8571"/>
            </a:avLst>
          </a:prstGeom>
          <a:solidFill>
            <a:srgbClr val="FFFFFF"/>
          </a:solidFill>
          <a:ln w="12700">
            <a:solidFill>
              <a:srgbClr val="FFFFFF"/>
            </a:solidFill>
            <a:prstDash val="solid"/>
          </a:ln>
        </p:spPr>
      </p:sp>
      <p:sp>
        <p:nvSpPr>
          <p:cNvPr id="20" name="Text 18"/>
          <p:cNvSpPr txBox="1"/>
          <p:nvPr/>
        </p:nvSpPr>
        <p:spPr>
          <a:xfrm>
            <a:off x="7543800" y="1874520"/>
            <a:ext cx="1188720" cy="640080"/>
          </a:xfrm>
          <a:prstGeom prst="rect">
            <a:avLst/>
          </a:prstGeom>
          <a:noFill/>
          <a:ln/>
        </p:spPr>
        <p:txBody>
          <a:bodyPr wrap="square" lIns="0" tIns="0" rIns="0" bIns="0" rtlCol="0" anchor="ctr"/>
          <a:lstStyle/>
          <a:p>
            <a:pPr algn="ctr" indent="0" marL="0">
              <a:buNone/>
            </a:pPr>
            <a:r>
              <a:rPr lang="en-US" sz="1300" b="1" dirty="0">
                <a:solidFill>
                  <a:srgbClr val="14213D"/>
                </a:solidFill>
              </a:rPr>
              <a:t>Conversion</a:t>
            </a:r>
            <a:endParaRPr lang="en-US" sz="1300" dirty="0"/>
          </a:p>
        </p:txBody>
      </p:sp>
      <p:sp>
        <p:nvSpPr>
          <p:cNvPr id="21" name="Shape 19"/>
          <p:cNvSpPr/>
          <p:nvPr/>
        </p:nvSpPr>
        <p:spPr>
          <a:xfrm>
            <a:off x="3429000" y="2697480"/>
            <a:ext cx="5212080" cy="502920"/>
          </a:xfrm>
          <a:prstGeom prst="roundRect">
            <a:avLst>
              <a:gd name="adj" fmla="val 10909"/>
            </a:avLst>
          </a:prstGeom>
          <a:solidFill>
            <a:srgbClr val="2B3A67"/>
          </a:solidFill>
          <a:ln w="12700">
            <a:solidFill>
              <a:srgbClr val="2B3A67"/>
            </a:solidFill>
            <a:prstDash val="solid"/>
          </a:ln>
        </p:spPr>
      </p:sp>
      <p:sp>
        <p:nvSpPr>
          <p:cNvPr id="22" name="Text 20"/>
          <p:cNvSpPr txBox="1"/>
          <p:nvPr/>
        </p:nvSpPr>
        <p:spPr>
          <a:xfrm>
            <a:off x="3429000" y="2697480"/>
            <a:ext cx="5212080" cy="502920"/>
          </a:xfrm>
          <a:prstGeom prst="rect">
            <a:avLst/>
          </a:prstGeom>
          <a:noFill/>
          <a:ln/>
        </p:spPr>
        <p:txBody>
          <a:bodyPr wrap="square" lIns="0" tIns="0" rIns="0" bIns="0" rtlCol="0" anchor="ctr"/>
          <a:lstStyle/>
          <a:p>
            <a:pPr algn="ctr" indent="0" marL="0">
              <a:buNone/>
            </a:pPr>
            <a:r>
              <a:rPr lang="en-US" sz="1500" b="1" dirty="0">
                <a:solidFill>
                  <a:srgbClr val="FFFFFF"/>
                </a:solidFill>
              </a:rPr>
              <a:t>Contact  +  Account  +  Opportunity</a:t>
            </a:r>
            <a:endParaRPr lang="en-US" sz="1500" dirty="0"/>
          </a:p>
        </p:txBody>
      </p:sp>
      <p:sp>
        <p:nvSpPr>
          <p:cNvPr id="23" name="Shape 21"/>
          <p:cNvSpPr/>
          <p:nvPr/>
        </p:nvSpPr>
        <p:spPr>
          <a:xfrm>
            <a:off x="3429000" y="3337560"/>
            <a:ext cx="5212080" cy="548640"/>
          </a:xfrm>
          <a:prstGeom prst="roundRect">
            <a:avLst>
              <a:gd name="adj" fmla="val 10000"/>
            </a:avLst>
          </a:prstGeom>
          <a:solidFill>
            <a:srgbClr val="2B3A67"/>
          </a:solidFill>
          <a:ln w="12700">
            <a:solidFill>
              <a:srgbClr val="2B3A67"/>
            </a:solidFill>
            <a:prstDash val="solid"/>
          </a:ln>
        </p:spPr>
      </p:sp>
      <p:sp>
        <p:nvSpPr>
          <p:cNvPr id="24" name="Text 22"/>
          <p:cNvSpPr txBox="1"/>
          <p:nvPr/>
        </p:nvSpPr>
        <p:spPr>
          <a:xfrm>
            <a:off x="3429000" y="3337560"/>
            <a:ext cx="5212080" cy="548640"/>
          </a:xfrm>
          <a:prstGeom prst="rect">
            <a:avLst/>
          </a:prstGeom>
          <a:noFill/>
          <a:ln/>
        </p:spPr>
        <p:txBody>
          <a:bodyPr wrap="square" lIns="0" tIns="0" rIns="0" bIns="0" rtlCol="0" anchor="ctr"/>
          <a:lstStyle/>
          <a:p>
            <a:pPr algn="ctr" indent="0" marL="0">
              <a:buNone/>
            </a:pPr>
            <a:r>
              <a:rPr lang="en-US" sz="1500" b="1" dirty="0">
                <a:solidFill>
                  <a:srgbClr val="FFFFFF"/>
                </a:solidFill>
              </a:rPr>
              <a:t>6-stage pipeline  ►  Won / Lost (reason wajib)</a:t>
            </a:r>
            <a:endParaRPr lang="en-US" sz="1500" dirty="0"/>
          </a:p>
        </p:txBody>
      </p:sp>
      <p:sp>
        <p:nvSpPr>
          <p:cNvPr id="25" name="card"/>
          <p:cNvSpPr/>
          <p:nvPr/>
        </p:nvSpPr>
        <p:spPr>
          <a:xfrm>
            <a:off x="9235440" y="1325880"/>
            <a:ext cx="2468880" cy="1280160"/>
          </a:xfrm>
          <a:prstGeom prst="roundRect">
            <a:avLst>
              <a:gd name="adj" fmla="val 5714"/>
            </a:avLst>
          </a:prstGeom>
          <a:solidFill>
            <a:srgbClr val="EEF1F7"/>
          </a:solidFill>
          <a:ln w="12700">
            <a:solidFill>
              <a:srgbClr val="EEF1F7"/>
            </a:solidFill>
            <a:prstDash val="solid"/>
          </a:ln>
        </p:spPr>
      </p:sp>
      <p:sp>
        <p:nvSpPr>
          <p:cNvPr id="26" name="Text 24"/>
          <p:cNvSpPr txBox="1"/>
          <p:nvPr/>
        </p:nvSpPr>
        <p:spPr>
          <a:xfrm>
            <a:off x="9372600" y="1417320"/>
            <a:ext cx="2194560" cy="1097280"/>
          </a:xfrm>
          <a:prstGeom prst="rect">
            <a:avLst/>
          </a:prstGeom>
          <a:noFill/>
          <a:ln/>
        </p:spPr>
        <p:txBody>
          <a:bodyPr wrap="square" lIns="0" tIns="0" rIns="0" bIns="0" rtlCol="0" anchor="ctr"/>
          <a:lstStyle/>
          <a:p>
            <a:pPr indent="0" marL="0">
              <a:buNone/>
            </a:pPr>
            <a:r>
              <a:rPr lang="en-US" sz="1400" b="1" dirty="0">
                <a:solidFill>
                  <a:srgbClr val="1B1F2A"/>
                </a:solidFill>
              </a:rPr>
              <a:t>Dashboard &amp; reporting</a:t>
            </a:r>
            <a:endParaRPr lang="en-US" sz="1400" dirty="0"/>
          </a:p>
          <a:p>
            <a:pPr indent="0" marL="0">
              <a:buNone/>
            </a:pPr>
            <a:r>
              <a:rPr lang="en-US" sz="1400" dirty="0">
                <a:solidFill>
                  <a:srgbClr val="1B1F2A"/>
                </a:solidFill>
              </a:rPr>
              <a:t>Revenue, quota attainment, sales performance</a:t>
            </a:r>
            <a:endParaRPr lang="en-US" sz="1400" dirty="0"/>
          </a:p>
        </p:txBody>
      </p:sp>
      <p:sp>
        <p:nvSpPr>
          <p:cNvPr id="27" name="card"/>
          <p:cNvSpPr/>
          <p:nvPr/>
        </p:nvSpPr>
        <p:spPr>
          <a:xfrm>
            <a:off x="9235440" y="2788920"/>
            <a:ext cx="2468880" cy="1280160"/>
          </a:xfrm>
          <a:prstGeom prst="roundRect">
            <a:avLst>
              <a:gd name="adj" fmla="val 5714"/>
            </a:avLst>
          </a:prstGeom>
          <a:solidFill>
            <a:srgbClr val="EEF1F7"/>
          </a:solidFill>
          <a:ln w="12700">
            <a:solidFill>
              <a:srgbClr val="EEF1F7"/>
            </a:solidFill>
            <a:prstDash val="solid"/>
          </a:ln>
        </p:spPr>
      </p:sp>
      <p:sp>
        <p:nvSpPr>
          <p:cNvPr id="28" name="Text 26"/>
          <p:cNvSpPr txBox="1"/>
          <p:nvPr/>
        </p:nvSpPr>
        <p:spPr>
          <a:xfrm>
            <a:off x="9372600" y="2880360"/>
            <a:ext cx="2194560" cy="1097280"/>
          </a:xfrm>
          <a:prstGeom prst="rect">
            <a:avLst/>
          </a:prstGeom>
          <a:noFill/>
          <a:ln/>
        </p:spPr>
        <p:txBody>
          <a:bodyPr wrap="square" lIns="0" tIns="0" rIns="0" bIns="0" rtlCol="0" anchor="ctr"/>
          <a:lstStyle/>
          <a:p>
            <a:pPr indent="0" marL="0">
              <a:buNone/>
            </a:pPr>
            <a:r>
              <a:rPr lang="en-US" sz="1400" b="1" dirty="0">
                <a:solidFill>
                  <a:srgbClr val="1B1F2A"/>
                </a:solidFill>
              </a:rPr>
              <a:t>ERP / client system</a:t>
            </a:r>
            <a:endParaRPr lang="en-US" sz="1400" dirty="0"/>
          </a:p>
          <a:p>
            <a:pPr indent="0" marL="0">
              <a:buNone/>
            </a:pPr>
            <a:r>
              <a:rPr lang="en-US" sz="1400" dirty="0">
                <a:solidFill>
                  <a:srgbClr val="1B1F2A"/>
                </a:solidFill>
              </a:rPr>
              <a:t>Outbound webhook + delivery log</a:t>
            </a:r>
            <a:endParaRPr lang="en-US" sz="1400" dirty="0"/>
          </a:p>
        </p:txBody>
      </p:sp>
      <p:sp>
        <p:nvSpPr>
          <p:cNvPr id="29" name="Text 27"/>
          <p:cNvSpPr txBox="1"/>
          <p:nvPr/>
        </p:nvSpPr>
        <p:spPr>
          <a:xfrm>
            <a:off x="2834640" y="2423160"/>
            <a:ext cx="365760" cy="457200"/>
          </a:xfrm>
          <a:prstGeom prst="rect">
            <a:avLst/>
          </a:prstGeom>
          <a:noFill/>
          <a:ln/>
        </p:spPr>
        <p:txBody>
          <a:bodyPr wrap="square" lIns="0" tIns="0" rIns="0" bIns="0" rtlCol="0" anchor="ctr"/>
          <a:lstStyle/>
          <a:p>
            <a:pPr algn="ctr" indent="0" marL="0">
              <a:buNone/>
            </a:pPr>
            <a:r>
              <a:rPr lang="en-US" sz="1600" dirty="0">
                <a:solidFill>
                  <a:srgbClr val="14213D"/>
                </a:solidFill>
              </a:rPr>
              <a:t>►</a:t>
            </a:r>
            <a:endParaRPr lang="en-US" sz="1600" dirty="0"/>
          </a:p>
        </p:txBody>
      </p:sp>
      <p:sp>
        <p:nvSpPr>
          <p:cNvPr id="30" name="Text 28"/>
          <p:cNvSpPr txBox="1"/>
          <p:nvPr/>
        </p:nvSpPr>
        <p:spPr>
          <a:xfrm>
            <a:off x="8869680" y="2423160"/>
            <a:ext cx="365760" cy="457200"/>
          </a:xfrm>
          <a:prstGeom prst="rect">
            <a:avLst/>
          </a:prstGeom>
          <a:noFill/>
          <a:ln/>
        </p:spPr>
        <p:txBody>
          <a:bodyPr wrap="square" lIns="0" tIns="0" rIns="0" bIns="0" rtlCol="0" anchor="ctr"/>
          <a:lstStyle/>
          <a:p>
            <a:pPr algn="ctr" indent="0" marL="0">
              <a:buNone/>
            </a:pPr>
            <a:r>
              <a:rPr lang="en-US" sz="1600" dirty="0">
                <a:solidFill>
                  <a:srgbClr val="14213D"/>
                </a:solidFill>
              </a:rPr>
              <a:t>►</a:t>
            </a:r>
            <a:endParaRPr lang="en-US" sz="1600" dirty="0"/>
          </a:p>
        </p:txBody>
      </p:sp>
      <p:sp>
        <p:nvSpPr>
          <p:cNvPr id="31" name="Shape 29"/>
          <p:cNvSpPr/>
          <p:nvPr/>
        </p:nvSpPr>
        <p:spPr>
          <a:xfrm>
            <a:off x="457200" y="4297680"/>
            <a:ext cx="2743200" cy="1097280"/>
          </a:xfrm>
          <a:prstGeom prst="roundRect">
            <a:avLst>
              <a:gd name="adj" fmla="val 6667"/>
            </a:avLst>
          </a:prstGeom>
          <a:solidFill>
            <a:srgbClr val="DDE3F0"/>
          </a:solidFill>
          <a:ln w="12700">
            <a:solidFill>
              <a:srgbClr val="DDE3F0"/>
            </a:solidFill>
            <a:prstDash val="solid"/>
          </a:ln>
        </p:spPr>
      </p:sp>
      <p:sp>
        <p:nvSpPr>
          <p:cNvPr id="32" name="Text 30"/>
          <p:cNvSpPr txBox="1"/>
          <p:nvPr/>
        </p:nvSpPr>
        <p:spPr>
          <a:xfrm>
            <a:off x="594360" y="4343400"/>
            <a:ext cx="2468880" cy="1005840"/>
          </a:xfrm>
          <a:prstGeom prst="rect">
            <a:avLst/>
          </a:prstGeom>
          <a:noFill/>
          <a:ln/>
        </p:spPr>
        <p:txBody>
          <a:bodyPr wrap="square" lIns="0" tIns="0" rIns="0" bIns="0" rtlCol="0" anchor="ctr"/>
          <a:lstStyle/>
          <a:p>
            <a:pPr indent="0" marL="0">
              <a:buNone/>
            </a:pPr>
            <a:r>
              <a:rPr lang="en-US" sz="1500" b="1" dirty="0">
                <a:solidFill>
                  <a:srgbClr val="14213D"/>
                </a:solidFill>
              </a:rPr>
              <a:t>Configuration layer</a:t>
            </a:r>
            <a:endParaRPr lang="en-US" sz="1500" dirty="0"/>
          </a:p>
          <a:p>
            <a:pPr indent="0" marL="0">
              <a:buNone/>
            </a:pPr>
            <a:r>
              <a:rPr lang="en-US" sz="1300" dirty="0">
                <a:solidFill>
                  <a:srgbClr val="14213D"/>
                </a:solidFill>
              </a:rPr>
              <a:t>Pipeline, stage, custom field, assignment rule, role &amp; permission</a:t>
            </a:r>
            <a:endParaRPr lang="en-US" sz="1500" dirty="0"/>
          </a:p>
        </p:txBody>
      </p:sp>
      <p:sp>
        <p:nvSpPr>
          <p:cNvPr id="33" name="Shape 31"/>
          <p:cNvSpPr/>
          <p:nvPr/>
        </p:nvSpPr>
        <p:spPr>
          <a:xfrm>
            <a:off x="3383280" y="4297680"/>
            <a:ext cx="2651760" cy="1097280"/>
          </a:xfrm>
          <a:prstGeom prst="roundRect">
            <a:avLst>
              <a:gd name="adj" fmla="val 6667"/>
            </a:avLst>
          </a:prstGeom>
          <a:solidFill>
            <a:srgbClr val="DDE3F0"/>
          </a:solidFill>
          <a:ln w="12700">
            <a:solidFill>
              <a:srgbClr val="DDE3F0"/>
            </a:solidFill>
            <a:prstDash val="solid"/>
          </a:ln>
        </p:spPr>
      </p:sp>
      <p:sp>
        <p:nvSpPr>
          <p:cNvPr id="34" name="Text 32"/>
          <p:cNvSpPr txBox="1"/>
          <p:nvPr/>
        </p:nvSpPr>
        <p:spPr>
          <a:xfrm>
            <a:off x="3520440" y="4343400"/>
            <a:ext cx="2377440" cy="1005840"/>
          </a:xfrm>
          <a:prstGeom prst="rect">
            <a:avLst/>
          </a:prstGeom>
          <a:noFill/>
          <a:ln/>
        </p:spPr>
        <p:txBody>
          <a:bodyPr wrap="square" lIns="0" tIns="0" rIns="0" bIns="0" rtlCol="0" anchor="ctr"/>
          <a:lstStyle/>
          <a:p>
            <a:pPr indent="0" marL="0">
              <a:buNone/>
            </a:pPr>
            <a:r>
              <a:rPr lang="en-US" sz="1500" b="1" dirty="0">
                <a:solidFill>
                  <a:srgbClr val="14213D"/>
                </a:solidFill>
              </a:rPr>
              <a:t>Event layer (webhook)</a:t>
            </a:r>
            <a:endParaRPr lang="en-US" sz="1500" dirty="0"/>
          </a:p>
          <a:p>
            <a:pPr indent="0" marL="0">
              <a:buNone/>
            </a:pPr>
            <a:r>
              <a:rPr lang="en-US" sz="1300" dirty="0">
                <a:solidFill>
                  <a:srgbClr val="14213D"/>
                </a:solidFill>
              </a:rPr>
              <a:t>Data deal real-time ke sistem klien</a:t>
            </a:r>
            <a:endParaRPr lang="en-US" sz="1500" dirty="0"/>
          </a:p>
        </p:txBody>
      </p:sp>
      <p:sp>
        <p:nvSpPr>
          <p:cNvPr id="35" name="Shape 33"/>
          <p:cNvSpPr/>
          <p:nvPr/>
        </p:nvSpPr>
        <p:spPr>
          <a:xfrm>
            <a:off x="6217920" y="4297680"/>
            <a:ext cx="2651760" cy="1097280"/>
          </a:xfrm>
          <a:prstGeom prst="roundRect">
            <a:avLst>
              <a:gd name="adj" fmla="val 6667"/>
            </a:avLst>
          </a:prstGeom>
          <a:solidFill>
            <a:srgbClr val="ECE8FF"/>
          </a:solidFill>
          <a:ln w="12700">
            <a:solidFill>
              <a:srgbClr val="ECE8FF"/>
            </a:solidFill>
            <a:prstDash val="solid"/>
          </a:ln>
        </p:spPr>
      </p:sp>
      <p:sp>
        <p:nvSpPr>
          <p:cNvPr id="36" name="Text 34"/>
          <p:cNvSpPr txBox="1"/>
          <p:nvPr/>
        </p:nvSpPr>
        <p:spPr>
          <a:xfrm>
            <a:off x="6355080" y="4343400"/>
            <a:ext cx="2377440" cy="1005840"/>
          </a:xfrm>
          <a:prstGeom prst="rect">
            <a:avLst/>
          </a:prstGeom>
          <a:noFill/>
          <a:ln/>
        </p:spPr>
        <p:txBody>
          <a:bodyPr wrap="square" lIns="0" tIns="0" rIns="0" bIns="0" rtlCol="0" anchor="ctr"/>
          <a:lstStyle/>
          <a:p>
            <a:pPr indent="0" marL="0">
              <a:buNone/>
            </a:pPr>
            <a:r>
              <a:rPr lang="en-US" sz="1500" b="1" dirty="0">
                <a:solidFill>
                  <a:srgbClr val="6D4AFF"/>
                </a:solidFill>
              </a:rPr>
              <a:t>AI layer</a:t>
            </a:r>
            <a:endParaRPr lang="en-US" sz="1500" dirty="0"/>
          </a:p>
          <a:p>
            <a:pPr indent="0" marL="0">
              <a:buNone/>
            </a:pPr>
            <a:r>
              <a:rPr lang="en-US" sz="1300" dirty="0">
                <a:solidFill>
                  <a:srgbClr val="6D4AFF"/>
                </a:solidFill>
              </a:rPr>
              <a:t>Draft outreach, summary, insight, voice (STT/TTS). Credit-based + consent</a:t>
            </a:r>
            <a:endParaRPr lang="en-US" sz="1500" dirty="0"/>
          </a:p>
        </p:txBody>
      </p:sp>
      <p:sp>
        <p:nvSpPr>
          <p:cNvPr id="37" name="Shape 35"/>
          <p:cNvSpPr/>
          <p:nvPr/>
        </p:nvSpPr>
        <p:spPr>
          <a:xfrm>
            <a:off x="9052560" y="4297680"/>
            <a:ext cx="2651760" cy="1097280"/>
          </a:xfrm>
          <a:prstGeom prst="roundRect">
            <a:avLst>
              <a:gd name="adj" fmla="val 6667"/>
            </a:avLst>
          </a:prstGeom>
          <a:solidFill>
            <a:srgbClr val="FFFFFF"/>
          </a:solidFill>
          <a:ln w="19050">
            <a:solidFill>
              <a:srgbClr val="8D99AE"/>
            </a:solidFill>
            <a:prstDash val="dash"/>
          </a:ln>
        </p:spPr>
      </p:sp>
      <p:sp>
        <p:nvSpPr>
          <p:cNvPr id="38" name="Text 36"/>
          <p:cNvSpPr txBox="1"/>
          <p:nvPr/>
        </p:nvSpPr>
        <p:spPr>
          <a:xfrm>
            <a:off x="9189720" y="4343400"/>
            <a:ext cx="2377440" cy="1005840"/>
          </a:xfrm>
          <a:prstGeom prst="rect">
            <a:avLst/>
          </a:prstGeom>
          <a:noFill/>
          <a:ln/>
        </p:spPr>
        <p:txBody>
          <a:bodyPr wrap="square" lIns="0" tIns="0" rIns="0" bIns="0" rtlCol="0" anchor="ctr"/>
          <a:lstStyle/>
          <a:p>
            <a:pPr indent="0" marL="0">
              <a:buNone/>
            </a:pPr>
            <a:r>
              <a:rPr lang="en-US" sz="1500" b="1" dirty="0">
                <a:solidFill>
                  <a:srgbClr val="5B6478"/>
                </a:solidFill>
              </a:rPr>
              <a:t>Roadmap (garis putus-putus)</a:t>
            </a:r>
            <a:endParaRPr lang="en-US" sz="1500" dirty="0"/>
          </a:p>
          <a:p>
            <a:pPr indent="0" marL="0">
              <a:buNone/>
            </a:pPr>
            <a:r>
              <a:rPr lang="en-US" sz="1300" dirty="0">
                <a:solidFill>
                  <a:srgbClr val="5B6478"/>
                </a:solidFill>
              </a:rPr>
              <a:t>* Native WhatsApp/Email, AI Call</a:t>
            </a:r>
            <a:endParaRPr lang="en-US" sz="1500" dirty="0"/>
          </a:p>
        </p:txBody>
      </p:sp>
      <p:sp>
        <p:nvSpPr>
          <p:cNvPr id="39" name="Shape 37"/>
          <p:cNvSpPr/>
          <p:nvPr/>
        </p:nvSpPr>
        <p:spPr>
          <a:xfrm>
            <a:off x="457200" y="5577840"/>
            <a:ext cx="11247120" cy="548640"/>
          </a:xfrm>
          <a:prstGeom prst="roundRect">
            <a:avLst>
              <a:gd name="adj" fmla="val 13333"/>
            </a:avLst>
          </a:prstGeom>
          <a:solidFill>
            <a:srgbClr val="1B1F2A"/>
          </a:solidFill>
          <a:ln w="12700">
            <a:solidFill>
              <a:srgbClr val="1B1F2A"/>
            </a:solidFill>
            <a:prstDash val="solid"/>
          </a:ln>
        </p:spPr>
      </p:sp>
      <p:sp>
        <p:nvSpPr>
          <p:cNvPr id="40" name="Text 38"/>
          <p:cNvSpPr txBox="1"/>
          <p:nvPr/>
        </p:nvSpPr>
        <p:spPr>
          <a:xfrm>
            <a:off x="457200" y="5577840"/>
            <a:ext cx="11247120" cy="548640"/>
          </a:xfrm>
          <a:prstGeom prst="rect">
            <a:avLst/>
          </a:prstGeom>
          <a:noFill/>
          <a:ln/>
        </p:spPr>
        <p:txBody>
          <a:bodyPr wrap="square" lIns="0" tIns="0" rIns="0" bIns="0" rtlCol="0" anchor="ctr"/>
          <a:lstStyle/>
          <a:p>
            <a:pPr algn="ctr" indent="0" marL="0">
              <a:buNone/>
            </a:pPr>
            <a:r>
              <a:rPr lang="en-US" sz="1400" b="1" dirty="0">
                <a:solidFill>
                  <a:srgbClr val="FFFFFF"/>
                </a:solidFill>
              </a:rPr>
              <a:t>PLATFORM CONTROL PLANE (TLab):  plan  |  entitlement  |  quota  |  contract  |  suspend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Lima product principle yang menjadi pembeda</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4</a:t>
            </a:r>
            <a:endParaRPr lang="en-US" sz="1000" dirty="0"/>
          </a:p>
        </p:txBody>
      </p:sp>
      <p:sp>
        <p:nvSpPr>
          <p:cNvPr id="5" name="Shape 3"/>
          <p:cNvSpPr/>
          <p:nvPr/>
        </p:nvSpPr>
        <p:spPr>
          <a:xfrm>
            <a:off x="548640" y="1463040"/>
            <a:ext cx="640080" cy="640080"/>
          </a:xfrm>
          <a:prstGeom prst="ellipse">
            <a:avLst/>
          </a:prstGeom>
          <a:solidFill>
            <a:srgbClr val="14213D"/>
          </a:solidFill>
          <a:ln w="12700">
            <a:solidFill>
              <a:srgbClr val="14213D"/>
            </a:solidFill>
            <a:prstDash val="solid"/>
          </a:ln>
        </p:spPr>
      </p:sp>
      <p:sp>
        <p:nvSpPr>
          <p:cNvPr id="6" name="Text 4"/>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63040" y="1371600"/>
            <a:ext cx="4023360" cy="8229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One core, many tenants</a:t>
            </a:r>
            <a:endParaRPr lang="en-US" sz="2000" dirty="0"/>
          </a:p>
        </p:txBody>
      </p:sp>
      <p:sp>
        <p:nvSpPr>
          <p:cNvPr id="8" name="Text 6"/>
          <p:cNvSpPr txBox="1"/>
          <p:nvPr/>
        </p:nvSpPr>
        <p:spPr>
          <a:xfrm>
            <a:off x="5577840" y="1371600"/>
            <a:ext cx="6035040" cy="822960"/>
          </a:xfrm>
          <a:prstGeom prst="rect">
            <a:avLst/>
          </a:prstGeom>
          <a:noFill/>
          <a:ln/>
        </p:spPr>
        <p:txBody>
          <a:bodyPr wrap="square" lIns="0" tIns="0" rIns="0" bIns="0" rtlCol="0" anchor="ctr"/>
          <a:lstStyle/>
          <a:p>
            <a:pPr indent="0" marL="0">
              <a:buNone/>
            </a:pPr>
            <a:r>
              <a:rPr lang="en-US" sz="1600" dirty="0">
                <a:solidFill>
                  <a:srgbClr val="1B1F2A"/>
                </a:solidFill>
              </a:rPr>
              <a:t>Tanpa fork code per klien. Kebutuhan spesifik ditangani lewat configuration dan webhook.</a:t>
            </a:r>
            <a:endParaRPr lang="en-US" sz="1600" dirty="0"/>
          </a:p>
        </p:txBody>
      </p:sp>
      <p:sp>
        <p:nvSpPr>
          <p:cNvPr id="9" name="Shape 7"/>
          <p:cNvSpPr/>
          <p:nvPr/>
        </p:nvSpPr>
        <p:spPr>
          <a:xfrm>
            <a:off x="548640" y="2450592"/>
            <a:ext cx="640080" cy="640080"/>
          </a:xfrm>
          <a:prstGeom prst="ellipse">
            <a:avLst/>
          </a:prstGeom>
          <a:solidFill>
            <a:srgbClr val="14213D"/>
          </a:solidFill>
          <a:ln w="12700">
            <a:solidFill>
              <a:srgbClr val="14213D"/>
            </a:solidFill>
            <a:prstDash val="solid"/>
          </a:ln>
        </p:spPr>
      </p:sp>
      <p:sp>
        <p:nvSpPr>
          <p:cNvPr id="10" name="Text 8"/>
          <p:cNvSpPr txBox="1"/>
          <p:nvPr/>
        </p:nvSpPr>
        <p:spPr>
          <a:xfrm>
            <a:off x="548640" y="245059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463040" y="2359152"/>
            <a:ext cx="4023360" cy="8229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Configuration over code</a:t>
            </a:r>
            <a:endParaRPr lang="en-US" sz="2000" dirty="0"/>
          </a:p>
        </p:txBody>
      </p:sp>
      <p:sp>
        <p:nvSpPr>
          <p:cNvPr id="12" name="Text 10"/>
          <p:cNvSpPr txBox="1"/>
          <p:nvPr/>
        </p:nvSpPr>
        <p:spPr>
          <a:xfrm>
            <a:off x="5577840" y="2359152"/>
            <a:ext cx="6035040" cy="822960"/>
          </a:xfrm>
          <a:prstGeom prst="rect">
            <a:avLst/>
          </a:prstGeom>
          <a:noFill/>
          <a:ln/>
        </p:spPr>
        <p:txBody>
          <a:bodyPr wrap="square" lIns="0" tIns="0" rIns="0" bIns="0" rtlCol="0" anchor="ctr"/>
          <a:lstStyle/>
          <a:p>
            <a:pPr indent="0" marL="0">
              <a:buNone/>
            </a:pPr>
            <a:r>
              <a:rPr lang="en-US" sz="1600" dirty="0">
                <a:solidFill>
                  <a:srgbClr val="1B1F2A"/>
                </a:solidFill>
              </a:rPr>
              <a:t>Pipeline, stage, custom field, assignment rule, dan picklist dikelola langsung oleh admin klien.</a:t>
            </a:r>
            <a:endParaRPr lang="en-US" sz="1600" dirty="0"/>
          </a:p>
        </p:txBody>
      </p:sp>
      <p:sp>
        <p:nvSpPr>
          <p:cNvPr id="13" name="Shape 11"/>
          <p:cNvSpPr/>
          <p:nvPr/>
        </p:nvSpPr>
        <p:spPr>
          <a:xfrm>
            <a:off x="548640" y="3438144"/>
            <a:ext cx="640080" cy="640080"/>
          </a:xfrm>
          <a:prstGeom prst="ellipse">
            <a:avLst/>
          </a:prstGeom>
          <a:solidFill>
            <a:srgbClr val="14213D"/>
          </a:solidFill>
          <a:ln w="12700">
            <a:solidFill>
              <a:srgbClr val="14213D"/>
            </a:solidFill>
            <a:prstDash val="solid"/>
          </a:ln>
        </p:spPr>
      </p:sp>
      <p:sp>
        <p:nvSpPr>
          <p:cNvPr id="14" name="Text 12"/>
          <p:cNvSpPr txBox="1"/>
          <p:nvPr/>
        </p:nvSpPr>
        <p:spPr>
          <a:xfrm>
            <a:off x="548640" y="343814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463040" y="3346704"/>
            <a:ext cx="4023360" cy="8229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Sales discipline by design</a:t>
            </a:r>
            <a:endParaRPr lang="en-US" sz="2000" dirty="0"/>
          </a:p>
        </p:txBody>
      </p:sp>
      <p:sp>
        <p:nvSpPr>
          <p:cNvPr id="16" name="Text 14"/>
          <p:cNvSpPr txBox="1"/>
          <p:nvPr/>
        </p:nvSpPr>
        <p:spPr>
          <a:xfrm>
            <a:off x="5577840" y="3346704"/>
            <a:ext cx="6035040" cy="822960"/>
          </a:xfrm>
          <a:prstGeom prst="rect">
            <a:avLst/>
          </a:prstGeom>
          <a:noFill/>
          <a:ln/>
        </p:spPr>
        <p:txBody>
          <a:bodyPr wrap="square" lIns="0" tIns="0" rIns="0" bIns="0" rtlCol="0" anchor="ctr"/>
          <a:lstStyle/>
          <a:p>
            <a:pPr indent="0" marL="0">
              <a:buNone/>
            </a:pPr>
            <a:r>
              <a:rPr lang="en-US" sz="1600" dirty="0">
                <a:solidFill>
                  <a:srgbClr val="1B1F2A"/>
                </a:solidFill>
              </a:rPr>
              <a:t>Reason wajib diisi saat deal Lost atau Closed. Stage boleh mundur, dengan alasan tercatat.</a:t>
            </a:r>
            <a:endParaRPr lang="en-US" sz="1600" dirty="0"/>
          </a:p>
        </p:txBody>
      </p:sp>
      <p:sp>
        <p:nvSpPr>
          <p:cNvPr id="17" name="Shape 15"/>
          <p:cNvSpPr/>
          <p:nvPr/>
        </p:nvSpPr>
        <p:spPr>
          <a:xfrm>
            <a:off x="548640" y="4425696"/>
            <a:ext cx="640080" cy="640080"/>
          </a:xfrm>
          <a:prstGeom prst="ellipse">
            <a:avLst/>
          </a:prstGeom>
          <a:solidFill>
            <a:srgbClr val="14213D"/>
          </a:solidFill>
          <a:ln w="12700">
            <a:solidFill>
              <a:srgbClr val="14213D"/>
            </a:solidFill>
            <a:prstDash val="solid"/>
          </a:ln>
        </p:spPr>
      </p:sp>
      <p:sp>
        <p:nvSpPr>
          <p:cNvPr id="18" name="Text 16"/>
          <p:cNvSpPr txBox="1"/>
          <p:nvPr/>
        </p:nvSpPr>
        <p:spPr>
          <a:xfrm>
            <a:off x="548640" y="442569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1463040" y="4334256"/>
            <a:ext cx="4023360" cy="8229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Fokus sampai Closed-Won</a:t>
            </a:r>
            <a:endParaRPr lang="en-US" sz="2000" dirty="0"/>
          </a:p>
        </p:txBody>
      </p:sp>
      <p:sp>
        <p:nvSpPr>
          <p:cNvPr id="20" name="Text 18"/>
          <p:cNvSpPr txBox="1"/>
          <p:nvPr/>
        </p:nvSpPr>
        <p:spPr>
          <a:xfrm>
            <a:off x="5577840" y="4334256"/>
            <a:ext cx="6035040" cy="822960"/>
          </a:xfrm>
          <a:prstGeom prst="rect">
            <a:avLst/>
          </a:prstGeom>
          <a:noFill/>
          <a:ln/>
        </p:spPr>
        <p:txBody>
          <a:bodyPr wrap="square" lIns="0" tIns="0" rIns="0" bIns="0" rtlCol="0" anchor="ctr"/>
          <a:lstStyle/>
          <a:p>
            <a:pPr indent="0" marL="0">
              <a:buNone/>
            </a:pPr>
            <a:r>
              <a:rPr lang="en-US" sz="1600" dirty="0">
                <a:solidFill>
                  <a:srgbClr val="1B1F2A"/>
                </a:solidFill>
              </a:rPr>
              <a:t>Invoicing tetap di ERP klien. Kami melengkapi sistem yang ada, bukan menggantikannya.</a:t>
            </a:r>
            <a:endParaRPr lang="en-US" sz="1600" dirty="0"/>
          </a:p>
        </p:txBody>
      </p:sp>
      <p:sp>
        <p:nvSpPr>
          <p:cNvPr id="21" name="Shape 19"/>
          <p:cNvSpPr/>
          <p:nvPr/>
        </p:nvSpPr>
        <p:spPr>
          <a:xfrm>
            <a:off x="548640" y="5413248"/>
            <a:ext cx="640080" cy="640080"/>
          </a:xfrm>
          <a:prstGeom prst="ellipse">
            <a:avLst/>
          </a:prstGeom>
          <a:solidFill>
            <a:srgbClr val="6D4AFF"/>
          </a:solidFill>
          <a:ln w="12700">
            <a:solidFill>
              <a:srgbClr val="14213D"/>
            </a:solidFill>
            <a:prstDash val="solid"/>
          </a:ln>
        </p:spPr>
      </p:sp>
      <p:sp>
        <p:nvSpPr>
          <p:cNvPr id="22" name="Text 20"/>
          <p:cNvSpPr txBox="1"/>
          <p:nvPr/>
        </p:nvSpPr>
        <p:spPr>
          <a:xfrm>
            <a:off x="548640" y="541324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3" name="Text 21"/>
          <p:cNvSpPr txBox="1"/>
          <p:nvPr/>
        </p:nvSpPr>
        <p:spPr>
          <a:xfrm>
            <a:off x="1463040" y="5321808"/>
            <a:ext cx="4023360" cy="8229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AI sebagai enhancement</a:t>
            </a:r>
            <a:endParaRPr lang="en-US" sz="2000" dirty="0"/>
          </a:p>
        </p:txBody>
      </p:sp>
      <p:sp>
        <p:nvSpPr>
          <p:cNvPr id="24" name="Text 22"/>
          <p:cNvSpPr txBox="1"/>
          <p:nvPr/>
        </p:nvSpPr>
        <p:spPr>
          <a:xfrm>
            <a:off x="5577840" y="5321808"/>
            <a:ext cx="6035040" cy="822960"/>
          </a:xfrm>
          <a:prstGeom prst="rect">
            <a:avLst/>
          </a:prstGeom>
          <a:noFill/>
          <a:ln/>
        </p:spPr>
        <p:txBody>
          <a:bodyPr wrap="square" lIns="0" tIns="0" rIns="0" bIns="0" rtlCol="0" anchor="ctr"/>
          <a:lstStyle/>
          <a:p>
            <a:pPr indent="0" marL="0">
              <a:buNone/>
            </a:pPr>
            <a:r>
              <a:rPr lang="en-US" sz="1600" dirty="0">
                <a:solidFill>
                  <a:srgbClr val="1B1F2A"/>
                </a:solidFill>
              </a:rPr>
              <a:t>Jika AI gagal, proses sales tetap berjalan tanpa hambatan.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Product readiness: posisi kita hari ini</a:t>
            </a:r>
            <a:endParaRPr lang="en-US" sz="28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600" i="1" dirty="0">
                <a:solidFill>
                  <a:srgbClr val="5B6478"/>
                </a:solidFill>
              </a:rPr>
              <a:t>Transparansi soal kematangan produk membangun trust.</a:t>
            </a:r>
            <a:endParaRPr lang="en-US" sz="1600" dirty="0"/>
          </a:p>
        </p:txBody>
      </p:sp>
      <p:sp>
        <p:nvSpPr>
          <p:cNvPr id="4"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5" name="Text 3"/>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5</a:t>
            </a:r>
            <a:endParaRPr lang="en-US" sz="1000" dirty="0"/>
          </a:p>
        </p:txBody>
      </p:sp>
      <p:sp>
        <p:nvSpPr>
          <p:cNvPr id="6" name="Shape 4"/>
          <p:cNvSpPr/>
          <p:nvPr/>
        </p:nvSpPr>
        <p:spPr>
          <a:xfrm>
            <a:off x="548640" y="1737360"/>
            <a:ext cx="2606040" cy="685800"/>
          </a:xfrm>
          <a:prstGeom prst="roundRect">
            <a:avLst>
              <a:gd name="adj" fmla="val 10667"/>
            </a:avLst>
          </a:prstGeom>
          <a:solidFill>
            <a:srgbClr val="2A9D8F"/>
          </a:solidFill>
          <a:ln w="12700">
            <a:solidFill>
              <a:srgbClr val="2A9D8F"/>
            </a:solidFill>
            <a:prstDash val="solid"/>
          </a:ln>
        </p:spPr>
      </p:sp>
      <p:sp>
        <p:nvSpPr>
          <p:cNvPr id="7" name="Text 5"/>
          <p:cNvSpPr txBox="1"/>
          <p:nvPr/>
        </p:nvSpPr>
        <p:spPr>
          <a:xfrm>
            <a:off x="548640" y="1737360"/>
            <a:ext cx="2606040" cy="68580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Live di prototype</a:t>
            </a:r>
            <a:endParaRPr lang="en-US" sz="1600" dirty="0"/>
          </a:p>
        </p:txBody>
      </p:sp>
      <p:sp>
        <p:nvSpPr>
          <p:cNvPr id="8" name="card"/>
          <p:cNvSpPr/>
          <p:nvPr/>
        </p:nvSpPr>
        <p:spPr>
          <a:xfrm>
            <a:off x="548640" y="2560320"/>
            <a:ext cx="2606040" cy="3383280"/>
          </a:xfrm>
          <a:prstGeom prst="roundRect">
            <a:avLst>
              <a:gd name="adj" fmla="val 2807"/>
            </a:avLst>
          </a:prstGeom>
          <a:solidFill>
            <a:srgbClr val="EEF1F7"/>
          </a:solidFill>
          <a:ln w="12700">
            <a:solidFill>
              <a:srgbClr val="EEF1F7"/>
            </a:solidFill>
            <a:prstDash val="solid"/>
          </a:ln>
        </p:spPr>
      </p:sp>
      <p:sp>
        <p:nvSpPr>
          <p:cNvPr id="9" name="Text 7"/>
          <p:cNvSpPr txBox="1"/>
          <p:nvPr/>
        </p:nvSpPr>
        <p:spPr>
          <a:xfrm>
            <a:off x="731520" y="2697480"/>
            <a:ext cx="2240280" cy="3108960"/>
          </a:xfrm>
          <a:prstGeom prst="rect">
            <a:avLst/>
          </a:prstGeom>
          <a:noFill/>
          <a:ln/>
        </p:spPr>
        <p:txBody>
          <a:bodyPr wrap="square" lIns="0" tIns="0" rIns="0" bIns="0" rtlCol="0" anchor="t"/>
          <a:lstStyle/>
          <a:p>
            <a:pPr indent="0" marL="0">
              <a:buNone/>
            </a:pPr>
            <a:r>
              <a:rPr lang="en-US" sz="1500" dirty="0">
                <a:solidFill>
                  <a:srgbClr val="1B1F2A"/>
                </a:solidFill>
              </a:rPr>
              <a:t>Multi-tenant, Lead, Contact, Account, Opportunity, Activity (basic), Quota &amp; Performance, Reporting, Webhook, AI draft outreach</a:t>
            </a:r>
            <a:endParaRPr lang="en-US" sz="1500" dirty="0"/>
          </a:p>
        </p:txBody>
      </p:sp>
      <p:sp>
        <p:nvSpPr>
          <p:cNvPr id="10" name="Shape 8"/>
          <p:cNvSpPr/>
          <p:nvPr/>
        </p:nvSpPr>
        <p:spPr>
          <a:xfrm>
            <a:off x="3337560" y="1737360"/>
            <a:ext cx="2606040" cy="685800"/>
          </a:xfrm>
          <a:prstGeom prst="roundRect">
            <a:avLst>
              <a:gd name="adj" fmla="val 10667"/>
            </a:avLst>
          </a:prstGeom>
          <a:solidFill>
            <a:srgbClr val="F5A524"/>
          </a:solidFill>
          <a:ln w="12700">
            <a:solidFill>
              <a:srgbClr val="F5A524"/>
            </a:solidFill>
            <a:prstDash val="solid"/>
          </a:ln>
        </p:spPr>
      </p:sp>
      <p:sp>
        <p:nvSpPr>
          <p:cNvPr id="11" name="Text 9"/>
          <p:cNvSpPr txBox="1"/>
          <p:nvPr/>
        </p:nvSpPr>
        <p:spPr>
          <a:xfrm>
            <a:off x="3337560" y="1737360"/>
            <a:ext cx="2606040" cy="685800"/>
          </a:xfrm>
          <a:prstGeom prst="rect">
            <a:avLst/>
          </a:prstGeom>
          <a:noFill/>
          <a:ln/>
        </p:spPr>
        <p:txBody>
          <a:bodyPr wrap="square" lIns="635" tIns="635" rIns="635" bIns="635"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Siap di mockup</a:t>
            </a:r>
            <a:endParaRPr lang="en-US" sz="1600" dirty="0"/>
          </a:p>
        </p:txBody>
      </p:sp>
      <p:sp>
        <p:nvSpPr>
          <p:cNvPr id="12" name="card"/>
          <p:cNvSpPr/>
          <p:nvPr/>
        </p:nvSpPr>
        <p:spPr>
          <a:xfrm>
            <a:off x="3337560" y="2560320"/>
            <a:ext cx="2606040" cy="3383280"/>
          </a:xfrm>
          <a:prstGeom prst="roundRect">
            <a:avLst>
              <a:gd name="adj" fmla="val 2807"/>
            </a:avLst>
          </a:prstGeom>
          <a:solidFill>
            <a:srgbClr val="EEF1F7"/>
          </a:solidFill>
          <a:ln w="12700">
            <a:solidFill>
              <a:srgbClr val="EEF1F7"/>
            </a:solidFill>
            <a:prstDash val="solid"/>
          </a:ln>
        </p:spPr>
      </p:sp>
      <p:sp>
        <p:nvSpPr>
          <p:cNvPr id="13" name="Text 11"/>
          <p:cNvSpPr txBox="1"/>
          <p:nvPr/>
        </p:nvSpPr>
        <p:spPr>
          <a:xfrm>
            <a:off x="3520440" y="2697480"/>
            <a:ext cx="2240280" cy="3108960"/>
          </a:xfrm>
          <a:prstGeom prst="rect">
            <a:avLst/>
          </a:prstGeom>
          <a:noFill/>
          <a:ln/>
        </p:spPr>
        <p:txBody>
          <a:bodyPr wrap="square" lIns="0" tIns="0" rIns="0" bIns="0" rtlCol="0" anchor="t"/>
          <a:lstStyle/>
          <a:p>
            <a:pPr indent="0" marL="0">
              <a:buNone/>
            </a:pPr>
            <a:r>
              <a:rPr lang="en-US" sz="1500" dirty="0">
                <a:solidFill>
                  <a:srgbClr val="1B1F2A"/>
                </a:solidFill>
              </a:rPr>
              <a:t>Multi-pipeline, custom field, assignment rule, lead scoring, AI Follow-up</a:t>
            </a:r>
            <a:endParaRPr lang="en-US" sz="1500" dirty="0"/>
          </a:p>
        </p:txBody>
      </p:sp>
      <p:sp>
        <p:nvSpPr>
          <p:cNvPr id="14" name="Shape 12"/>
          <p:cNvSpPr/>
          <p:nvPr/>
        </p:nvSpPr>
        <p:spPr>
          <a:xfrm>
            <a:off x="6126480" y="1737360"/>
            <a:ext cx="2606040" cy="685800"/>
          </a:xfrm>
          <a:prstGeom prst="roundRect">
            <a:avLst>
              <a:gd name="adj" fmla="val 10667"/>
            </a:avLst>
          </a:prstGeom>
          <a:solidFill>
            <a:srgbClr val="D1495B"/>
          </a:solidFill>
          <a:ln w="12700">
            <a:solidFill>
              <a:srgbClr val="D1495B"/>
            </a:solidFill>
            <a:prstDash val="solid"/>
          </a:ln>
        </p:spPr>
      </p:sp>
      <p:sp>
        <p:nvSpPr>
          <p:cNvPr id="15" name="Text 13"/>
          <p:cNvSpPr txBox="1"/>
          <p:nvPr/>
        </p:nvSpPr>
        <p:spPr>
          <a:xfrm>
            <a:off x="6126480" y="1737360"/>
            <a:ext cx="2606040" cy="68580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Belum dibangun</a:t>
            </a:r>
            <a:endParaRPr lang="en-US" sz="1600" dirty="0"/>
          </a:p>
        </p:txBody>
      </p:sp>
      <p:sp>
        <p:nvSpPr>
          <p:cNvPr id="16" name="card"/>
          <p:cNvSpPr/>
          <p:nvPr/>
        </p:nvSpPr>
        <p:spPr>
          <a:xfrm>
            <a:off x="6126480" y="2560320"/>
            <a:ext cx="2606040" cy="3383280"/>
          </a:xfrm>
          <a:prstGeom prst="roundRect">
            <a:avLst>
              <a:gd name="adj" fmla="val 2807"/>
            </a:avLst>
          </a:prstGeom>
          <a:solidFill>
            <a:srgbClr val="EEF1F7"/>
          </a:solidFill>
          <a:ln w="12700">
            <a:solidFill>
              <a:srgbClr val="EEF1F7"/>
            </a:solidFill>
            <a:prstDash val="solid"/>
          </a:ln>
        </p:spPr>
      </p:sp>
      <p:sp>
        <p:nvSpPr>
          <p:cNvPr id="17" name="Text 15"/>
          <p:cNvSpPr txBox="1"/>
          <p:nvPr/>
        </p:nvSpPr>
        <p:spPr>
          <a:xfrm>
            <a:off x="6309360" y="2697480"/>
            <a:ext cx="2240280" cy="3108960"/>
          </a:xfrm>
          <a:prstGeom prst="rect">
            <a:avLst/>
          </a:prstGeom>
          <a:noFill/>
          <a:ln/>
        </p:spPr>
        <p:txBody>
          <a:bodyPr wrap="square" lIns="0" tIns="0" rIns="0" bIns="0" rtlCol="0" anchor="t"/>
          <a:lstStyle/>
          <a:p>
            <a:pPr indent="0" marL="0">
              <a:buNone/>
            </a:pPr>
            <a:r>
              <a:rPr lang="en-US" sz="1500" dirty="0">
                <a:solidFill>
                  <a:srgbClr val="1B1F2A"/>
                </a:solidFill>
              </a:rPr>
              <a:t>Control plane (plan &amp; quota), native WhatsApp/Email, SSO, audit log, native mobile app</a:t>
            </a:r>
            <a:endParaRPr lang="en-US" sz="1500" dirty="0"/>
          </a:p>
        </p:txBody>
      </p:sp>
      <p:sp>
        <p:nvSpPr>
          <p:cNvPr id="18" name="Shape 16"/>
          <p:cNvSpPr/>
          <p:nvPr/>
        </p:nvSpPr>
        <p:spPr>
          <a:xfrm>
            <a:off x="8915400" y="1737360"/>
            <a:ext cx="2606040" cy="685800"/>
          </a:xfrm>
          <a:prstGeom prst="roundRect">
            <a:avLst>
              <a:gd name="adj" fmla="val 10667"/>
            </a:avLst>
          </a:prstGeom>
          <a:solidFill>
            <a:srgbClr val="8D99AE"/>
          </a:solidFill>
          <a:ln w="12700">
            <a:solidFill>
              <a:srgbClr val="8D99AE"/>
            </a:solidFill>
            <a:prstDash val="solid"/>
          </a:ln>
        </p:spPr>
      </p:sp>
      <p:sp>
        <p:nvSpPr>
          <p:cNvPr id="19" name="Text 17"/>
          <p:cNvSpPr txBox="1"/>
          <p:nvPr/>
        </p:nvSpPr>
        <p:spPr>
          <a:xfrm>
            <a:off x="8915400" y="1737360"/>
            <a:ext cx="2606040" cy="68580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Ditunda</a:t>
            </a:r>
            <a:endParaRPr lang="en-US" sz="1600" dirty="0"/>
          </a:p>
        </p:txBody>
      </p:sp>
      <p:sp>
        <p:nvSpPr>
          <p:cNvPr id="20" name="card"/>
          <p:cNvSpPr/>
          <p:nvPr/>
        </p:nvSpPr>
        <p:spPr>
          <a:xfrm>
            <a:off x="8915400" y="2560320"/>
            <a:ext cx="2606040" cy="3383280"/>
          </a:xfrm>
          <a:prstGeom prst="roundRect">
            <a:avLst>
              <a:gd name="adj" fmla="val 2807"/>
            </a:avLst>
          </a:prstGeom>
          <a:solidFill>
            <a:srgbClr val="EEF1F7"/>
          </a:solidFill>
          <a:ln w="12700">
            <a:solidFill>
              <a:srgbClr val="EEF1F7"/>
            </a:solidFill>
            <a:prstDash val="solid"/>
          </a:ln>
        </p:spPr>
      </p:sp>
      <p:sp>
        <p:nvSpPr>
          <p:cNvPr id="21" name="Text 19"/>
          <p:cNvSpPr txBox="1"/>
          <p:nvPr/>
        </p:nvSpPr>
        <p:spPr>
          <a:xfrm>
            <a:off x="9098280" y="2697480"/>
            <a:ext cx="2240280" cy="3108960"/>
          </a:xfrm>
          <a:prstGeom prst="rect">
            <a:avLst/>
          </a:prstGeom>
          <a:noFill/>
          <a:ln/>
        </p:spPr>
        <p:txBody>
          <a:bodyPr wrap="square" lIns="0" tIns="0" rIns="0" bIns="0" rtlCol="0" anchor="t"/>
          <a:lstStyle/>
          <a:p>
            <a:pPr indent="0" marL="0">
              <a:buNone/>
            </a:pPr>
            <a:r>
              <a:rPr lang="en-US" sz="1500" dirty="0">
                <a:solidFill>
                  <a:srgbClr val="1B1F2A"/>
                </a:solidFill>
              </a:rPr>
              <a:t>AI Call, karena engine saat ini baru mendukung STT/TTS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Roadmap: dari working prototype ke produk yang siap dijual</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6</a:t>
            </a:r>
            <a:endParaRPr lang="en-US" sz="1000" dirty="0"/>
          </a:p>
        </p:txBody>
      </p:sp>
      <p:sp>
        <p:nvSpPr>
          <p:cNvPr id="5" name="Shape 3"/>
          <p:cNvSpPr/>
          <p:nvPr/>
        </p:nvSpPr>
        <p:spPr>
          <a:xfrm>
            <a:off x="548640" y="1463040"/>
            <a:ext cx="2743200" cy="822960"/>
          </a:xfrm>
          <a:prstGeom prst="homePlate">
            <a:avLst/>
          </a:prstGeom>
          <a:solidFill>
            <a:srgbClr val="8D99AE"/>
          </a:solidFill>
          <a:ln w="12700">
            <a:solidFill>
              <a:srgbClr val="8D99AE"/>
            </a:solidFill>
            <a:prstDash val="solid"/>
          </a:ln>
        </p:spPr>
      </p:sp>
      <p:sp>
        <p:nvSpPr>
          <p:cNvPr id="6" name="Text 4"/>
          <p:cNvSpPr txBox="1"/>
          <p:nvPr/>
        </p:nvSpPr>
        <p:spPr>
          <a:xfrm>
            <a:off x="685800" y="1463040"/>
            <a:ext cx="2286000"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0. MVP</a:t>
            </a:r>
            <a:endParaRPr lang="en-US" sz="1700" dirty="0"/>
          </a:p>
        </p:txBody>
      </p:sp>
      <p:sp>
        <p:nvSpPr>
          <p:cNvPr id="7" name="card"/>
          <p:cNvSpPr/>
          <p:nvPr/>
        </p:nvSpPr>
        <p:spPr>
          <a:xfrm>
            <a:off x="548640" y="2468880"/>
            <a:ext cx="2606040" cy="2834640"/>
          </a:xfrm>
          <a:prstGeom prst="roundRect">
            <a:avLst>
              <a:gd name="adj" fmla="val 2807"/>
            </a:avLst>
          </a:prstGeom>
          <a:solidFill>
            <a:srgbClr val="EEF1F7"/>
          </a:solidFill>
          <a:ln w="12700">
            <a:solidFill>
              <a:srgbClr val="EEF1F7"/>
            </a:solidFill>
            <a:prstDash val="solid"/>
          </a:ln>
        </p:spPr>
      </p:sp>
      <p:sp>
        <p:nvSpPr>
          <p:cNvPr id="8" name="Text 6"/>
          <p:cNvSpPr txBox="1"/>
          <p:nvPr/>
        </p:nvSpPr>
        <p:spPr>
          <a:xfrm>
            <a:off x="731520" y="2560320"/>
            <a:ext cx="2240280" cy="548640"/>
          </a:xfrm>
          <a:prstGeom prst="rect">
            <a:avLst/>
          </a:prstGeom>
          <a:noFill/>
          <a:ln/>
        </p:spPr>
        <p:txBody>
          <a:bodyPr wrap="square" lIns="0" tIns="0" rIns="0" bIns="0" rtlCol="0" anchor="t"/>
          <a:lstStyle/>
          <a:p>
            <a:pPr indent="0" marL="0">
              <a:buNone/>
            </a:pPr>
            <a:r>
              <a:rPr lang="en-US" sz="1400" b="1" dirty="0">
                <a:solidFill>
                  <a:srgbClr val="5B6478"/>
                </a:solidFill>
              </a:rPr>
              <a:t>Validasi core flow</a:t>
            </a:r>
            <a:endParaRPr lang="en-US" sz="1400" dirty="0"/>
          </a:p>
        </p:txBody>
      </p:sp>
      <p:sp>
        <p:nvSpPr>
          <p:cNvPr id="9" name="Text 7"/>
          <p:cNvSpPr txBox="1"/>
          <p:nvPr/>
        </p:nvSpPr>
        <p:spPr>
          <a:xfrm>
            <a:off x="731520" y="3154680"/>
            <a:ext cx="2240280" cy="2103120"/>
          </a:xfrm>
          <a:prstGeom prst="rect">
            <a:avLst/>
          </a:prstGeom>
          <a:noFill/>
          <a:ln/>
        </p:spPr>
        <p:txBody>
          <a:bodyPr wrap="square" lIns="0" tIns="0" rIns="0" bIns="0" rtlCol="0" anchor="t"/>
          <a:lstStyle/>
          <a:p>
            <a:pPr indent="0" marL="0">
              <a:buNone/>
            </a:pPr>
            <a:r>
              <a:rPr lang="en-US" sz="1400" dirty="0">
                <a:solidFill>
                  <a:srgbClr val="1B1F2A"/>
                </a:solidFill>
              </a:rPr>
              <a:t>End-to-end sales flow, webhook, satu AI use case</a:t>
            </a:r>
            <a:endParaRPr lang="en-US" sz="1400" dirty="0"/>
          </a:p>
        </p:txBody>
      </p:sp>
      <p:sp>
        <p:nvSpPr>
          <p:cNvPr id="10" name="Shape 8"/>
          <p:cNvSpPr/>
          <p:nvPr/>
        </p:nvSpPr>
        <p:spPr>
          <a:xfrm>
            <a:off x="3337560" y="1463040"/>
            <a:ext cx="2743200" cy="822960"/>
          </a:xfrm>
          <a:prstGeom prst="homePlate">
            <a:avLst/>
          </a:prstGeom>
          <a:solidFill>
            <a:srgbClr val="14213D"/>
          </a:solidFill>
          <a:ln w="12700">
            <a:solidFill>
              <a:srgbClr val="14213D"/>
            </a:solidFill>
            <a:prstDash val="solid"/>
          </a:ln>
        </p:spPr>
      </p:sp>
      <p:sp>
        <p:nvSpPr>
          <p:cNvPr id="11" name="Text 9"/>
          <p:cNvSpPr txBox="1"/>
          <p:nvPr/>
        </p:nvSpPr>
        <p:spPr>
          <a:xfrm>
            <a:off x="3474720" y="1463040"/>
            <a:ext cx="2286000"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 Sales-ready</a:t>
            </a:r>
            <a:endParaRPr lang="en-US" sz="1700" dirty="0"/>
          </a:p>
        </p:txBody>
      </p:sp>
      <p:sp>
        <p:nvSpPr>
          <p:cNvPr id="12" name="card"/>
          <p:cNvSpPr/>
          <p:nvPr/>
        </p:nvSpPr>
        <p:spPr>
          <a:xfrm>
            <a:off x="3337560" y="2468880"/>
            <a:ext cx="2606040" cy="2834640"/>
          </a:xfrm>
          <a:prstGeom prst="roundRect">
            <a:avLst>
              <a:gd name="adj" fmla="val 2807"/>
            </a:avLst>
          </a:prstGeom>
          <a:solidFill>
            <a:srgbClr val="EEF1F7"/>
          </a:solidFill>
          <a:ln w="12700">
            <a:solidFill>
              <a:srgbClr val="EEF1F7"/>
            </a:solidFill>
            <a:prstDash val="solid"/>
          </a:ln>
        </p:spPr>
      </p:sp>
      <p:sp>
        <p:nvSpPr>
          <p:cNvPr id="13" name="Text 11"/>
          <p:cNvSpPr txBox="1"/>
          <p:nvPr/>
        </p:nvSpPr>
        <p:spPr>
          <a:xfrm>
            <a:off x="3520440" y="2560320"/>
            <a:ext cx="2240280" cy="548640"/>
          </a:xfrm>
          <a:prstGeom prst="rect">
            <a:avLst/>
          </a:prstGeom>
          <a:noFill/>
          <a:ln/>
        </p:spPr>
        <p:txBody>
          <a:bodyPr wrap="square" lIns="0" tIns="0" rIns="0" bIns="0" rtlCol="0" anchor="t"/>
          <a:lstStyle/>
          <a:p>
            <a:pPr indent="0" marL="0">
              <a:buNone/>
            </a:pPr>
            <a:r>
              <a:rPr lang="en-US" sz="1400" b="1" dirty="0">
                <a:solidFill>
                  <a:srgbClr val="14213D"/>
                </a:solidFill>
              </a:rPr>
              <a:t>Fondasi komersial &amp; security</a:t>
            </a:r>
            <a:endParaRPr lang="en-US" sz="1400" dirty="0"/>
          </a:p>
        </p:txBody>
      </p:sp>
      <p:sp>
        <p:nvSpPr>
          <p:cNvPr id="14" name="Text 12"/>
          <p:cNvSpPr txBox="1"/>
          <p:nvPr/>
        </p:nvSpPr>
        <p:spPr>
          <a:xfrm>
            <a:off x="3520440" y="3154680"/>
            <a:ext cx="2240280" cy="2103120"/>
          </a:xfrm>
          <a:prstGeom prst="rect">
            <a:avLst/>
          </a:prstGeom>
          <a:noFill/>
          <a:ln/>
        </p:spPr>
        <p:txBody>
          <a:bodyPr wrap="square" lIns="0" tIns="0" rIns="0" bIns="0" rtlCol="0" anchor="t"/>
          <a:lstStyle/>
          <a:p>
            <a:pPr indent="0" marL="0">
              <a:buNone/>
            </a:pPr>
            <a:r>
              <a:rPr lang="en-US" sz="1400" dirty="0">
                <a:solidFill>
                  <a:srgbClr val="1B1F2A"/>
                </a:solidFill>
              </a:rPr>
              <a:t>Control plane (plan, entitlement, quota, contract), multi-pipeline, custom field, assignment rule, audit log, SSO, custom role</a:t>
            </a:r>
            <a:endParaRPr lang="en-US" sz="1400" dirty="0"/>
          </a:p>
        </p:txBody>
      </p:sp>
      <p:sp>
        <p:nvSpPr>
          <p:cNvPr id="15" name="Shape 13"/>
          <p:cNvSpPr/>
          <p:nvPr/>
        </p:nvSpPr>
        <p:spPr>
          <a:xfrm>
            <a:off x="6126480" y="1463040"/>
            <a:ext cx="2743200" cy="822960"/>
          </a:xfrm>
          <a:prstGeom prst="homePlate">
            <a:avLst/>
          </a:prstGeom>
          <a:solidFill>
            <a:srgbClr val="6D4AFF"/>
          </a:solidFill>
          <a:ln w="12700">
            <a:solidFill>
              <a:srgbClr val="6D4AFF"/>
            </a:solidFill>
            <a:prstDash val="solid"/>
          </a:ln>
        </p:spPr>
      </p:sp>
      <p:sp>
        <p:nvSpPr>
          <p:cNvPr id="16" name="Text 14"/>
          <p:cNvSpPr txBox="1"/>
          <p:nvPr/>
        </p:nvSpPr>
        <p:spPr>
          <a:xfrm>
            <a:off x="6263640" y="1463040"/>
            <a:ext cx="2286000"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 AI &amp; omnichannel</a:t>
            </a:r>
            <a:endParaRPr lang="en-US" sz="1700" dirty="0"/>
          </a:p>
        </p:txBody>
      </p:sp>
      <p:sp>
        <p:nvSpPr>
          <p:cNvPr id="17" name="card"/>
          <p:cNvSpPr/>
          <p:nvPr/>
        </p:nvSpPr>
        <p:spPr>
          <a:xfrm>
            <a:off x="6126480" y="2468880"/>
            <a:ext cx="2606040" cy="2834640"/>
          </a:xfrm>
          <a:prstGeom prst="roundRect">
            <a:avLst>
              <a:gd name="adj" fmla="val 2807"/>
            </a:avLst>
          </a:prstGeom>
          <a:solidFill>
            <a:srgbClr val="EEF1F7"/>
          </a:solidFill>
          <a:ln w="12700">
            <a:solidFill>
              <a:srgbClr val="EEF1F7"/>
            </a:solidFill>
            <a:prstDash val="solid"/>
          </a:ln>
        </p:spPr>
      </p:sp>
      <p:sp>
        <p:nvSpPr>
          <p:cNvPr id="18" name="Text 16"/>
          <p:cNvSpPr txBox="1"/>
          <p:nvPr/>
        </p:nvSpPr>
        <p:spPr>
          <a:xfrm>
            <a:off x="6309360" y="2560320"/>
            <a:ext cx="2240280" cy="548640"/>
          </a:xfrm>
          <a:prstGeom prst="rect">
            <a:avLst/>
          </a:prstGeom>
          <a:noFill/>
          <a:ln/>
        </p:spPr>
        <p:txBody>
          <a:bodyPr wrap="square" lIns="0" tIns="0" rIns="0" bIns="0" rtlCol="0" anchor="t"/>
          <a:lstStyle/>
          <a:p>
            <a:pPr indent="0" marL="0">
              <a:buNone/>
            </a:pPr>
            <a:r>
              <a:rPr lang="en-US" sz="1400" b="1" dirty="0">
                <a:solidFill>
                  <a:srgbClr val="6D4AFF"/>
                </a:solidFill>
              </a:rPr>
              <a:t>Value-add &amp; add-on revenue</a:t>
            </a:r>
            <a:endParaRPr lang="en-US" sz="1400" dirty="0"/>
          </a:p>
        </p:txBody>
      </p:sp>
      <p:sp>
        <p:nvSpPr>
          <p:cNvPr id="19" name="Text 17"/>
          <p:cNvSpPr txBox="1"/>
          <p:nvPr/>
        </p:nvSpPr>
        <p:spPr>
          <a:xfrm>
            <a:off x="6309360" y="3154680"/>
            <a:ext cx="2240280" cy="2103120"/>
          </a:xfrm>
          <a:prstGeom prst="rect">
            <a:avLst/>
          </a:prstGeom>
          <a:noFill/>
          <a:ln/>
        </p:spPr>
        <p:txBody>
          <a:bodyPr wrap="square" lIns="0" tIns="0" rIns="0" bIns="0" rtlCol="0" anchor="t"/>
          <a:lstStyle/>
          <a:p>
            <a:pPr indent="0" marL="0">
              <a:buNone/>
            </a:pPr>
            <a:r>
              <a:rPr lang="en-US" sz="1400" dirty="0">
                <a:solidFill>
                  <a:srgbClr val="1B1F2A"/>
                </a:solidFill>
              </a:rPr>
              <a:t>AI credit, lead scoring, call transcription (STT), voice note di mobile, WhatsApp &amp; Email, follow-up sequence</a:t>
            </a:r>
            <a:endParaRPr lang="en-US" sz="1400" dirty="0"/>
          </a:p>
        </p:txBody>
      </p:sp>
      <p:sp>
        <p:nvSpPr>
          <p:cNvPr id="20" name="Shape 18"/>
          <p:cNvSpPr/>
          <p:nvPr/>
        </p:nvSpPr>
        <p:spPr>
          <a:xfrm>
            <a:off x="8915400" y="1463040"/>
            <a:ext cx="2743200" cy="822960"/>
          </a:xfrm>
          <a:prstGeom prst="homePlate">
            <a:avLst/>
          </a:prstGeom>
          <a:solidFill>
            <a:srgbClr val="2A9D8F"/>
          </a:solidFill>
          <a:ln w="12700">
            <a:solidFill>
              <a:srgbClr val="2A9D8F"/>
            </a:solidFill>
            <a:prstDash val="solid"/>
          </a:ln>
        </p:spPr>
      </p:sp>
      <p:sp>
        <p:nvSpPr>
          <p:cNvPr id="21" name="Text 19"/>
          <p:cNvSpPr txBox="1"/>
          <p:nvPr/>
        </p:nvSpPr>
        <p:spPr>
          <a:xfrm>
            <a:off x="9052560" y="1463040"/>
            <a:ext cx="2286000"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3. Scale &amp; automation</a:t>
            </a:r>
            <a:endParaRPr lang="en-US" sz="1700" dirty="0"/>
          </a:p>
        </p:txBody>
      </p:sp>
      <p:sp>
        <p:nvSpPr>
          <p:cNvPr id="22" name="card"/>
          <p:cNvSpPr/>
          <p:nvPr/>
        </p:nvSpPr>
        <p:spPr>
          <a:xfrm>
            <a:off x="8915400" y="2468880"/>
            <a:ext cx="2606040" cy="2834640"/>
          </a:xfrm>
          <a:prstGeom prst="roundRect">
            <a:avLst>
              <a:gd name="adj" fmla="val 2807"/>
            </a:avLst>
          </a:prstGeom>
          <a:solidFill>
            <a:srgbClr val="EEF1F7"/>
          </a:solidFill>
          <a:ln w="12700">
            <a:solidFill>
              <a:srgbClr val="EEF1F7"/>
            </a:solidFill>
            <a:prstDash val="solid"/>
          </a:ln>
        </p:spPr>
      </p:sp>
      <p:sp>
        <p:nvSpPr>
          <p:cNvPr id="23" name="Text 21"/>
          <p:cNvSpPr txBox="1"/>
          <p:nvPr/>
        </p:nvSpPr>
        <p:spPr>
          <a:xfrm>
            <a:off x="9098280" y="2560320"/>
            <a:ext cx="2240280" cy="548640"/>
          </a:xfrm>
          <a:prstGeom prst="rect">
            <a:avLst/>
          </a:prstGeom>
          <a:noFill/>
          <a:ln/>
        </p:spPr>
        <p:txBody>
          <a:bodyPr wrap="square" lIns="0" tIns="0" rIns="0" bIns="0" rtlCol="0" anchor="t"/>
          <a:lstStyle/>
          <a:p>
            <a:pPr indent="0" marL="0">
              <a:buNone/>
            </a:pPr>
            <a:r>
              <a:rPr lang="en-US" sz="1400" b="1" dirty="0">
                <a:solidFill>
                  <a:srgbClr val="2A9D8F"/>
                </a:solidFill>
              </a:rPr>
              <a:t>Diferensiasi jangka panjang</a:t>
            </a:r>
            <a:endParaRPr lang="en-US" sz="1400" dirty="0"/>
          </a:p>
        </p:txBody>
      </p:sp>
      <p:sp>
        <p:nvSpPr>
          <p:cNvPr id="24" name="Text 22"/>
          <p:cNvSpPr txBox="1"/>
          <p:nvPr/>
        </p:nvSpPr>
        <p:spPr>
          <a:xfrm>
            <a:off x="9098280" y="3154680"/>
            <a:ext cx="2240280" cy="2103120"/>
          </a:xfrm>
          <a:prstGeom prst="rect">
            <a:avLst/>
          </a:prstGeom>
          <a:noFill/>
          <a:ln/>
        </p:spPr>
        <p:txBody>
          <a:bodyPr wrap="square" lIns="0" tIns="0" rIns="0" bIns="0" rtlCol="0" anchor="t"/>
          <a:lstStyle/>
          <a:p>
            <a:pPr indent="0" marL="0">
              <a:buNone/>
            </a:pPr>
            <a:r>
              <a:rPr lang="en-US" sz="1400" dirty="0">
                <a:solidFill>
                  <a:srgbClr val="1B1F2A"/>
                </a:solidFill>
              </a:rPr>
              <a:t>AI Call (setelah engine dan compliance siap), predictive AI, Ticketing, integration marketplace</a:t>
            </a:r>
            <a:endParaRPr lang="en-US" sz="1400" dirty="0"/>
          </a:p>
        </p:txBody>
      </p:sp>
      <p:sp>
        <p:nvSpPr>
          <p:cNvPr id="25" name="Text 23"/>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600" b="1" dirty="0">
                <a:solidFill>
                  <a:srgbClr val="14213D"/>
                </a:solidFill>
              </a:rPr>
              <a:t>Phase 1 sengaja didahulukan: klien korporasi membeli security, control, dan integration terlebih dulu, baru AI.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AI roadmap mengikuti kapabilitas engine yang sudah teruji</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7</a:t>
            </a:r>
            <a:endParaRPr lang="en-US" sz="1000" dirty="0"/>
          </a:p>
        </p:txBody>
      </p:sp>
      <p:sp>
        <p:nvSpPr>
          <p:cNvPr id="5" name="Shape 3"/>
          <p:cNvSpPr/>
          <p:nvPr/>
        </p:nvSpPr>
        <p:spPr>
          <a:xfrm>
            <a:off x="548640" y="1371600"/>
            <a:ext cx="3566160" cy="594360"/>
          </a:xfrm>
          <a:prstGeom prst="roundRect">
            <a:avLst>
              <a:gd name="adj" fmla="val 12308"/>
            </a:avLst>
          </a:prstGeom>
          <a:solidFill>
            <a:srgbClr val="2A9D8F"/>
          </a:solidFill>
          <a:ln w="12700">
            <a:solidFill>
              <a:srgbClr val="2A9D8F"/>
            </a:solidFill>
            <a:prstDash val="solid"/>
          </a:ln>
        </p:spPr>
      </p:sp>
      <p:sp>
        <p:nvSpPr>
          <p:cNvPr id="6" name="Text 4"/>
          <p:cNvSpPr txBox="1"/>
          <p:nvPr/>
        </p:nvSpPr>
        <p:spPr>
          <a:xfrm>
            <a:off x="548640" y="1371600"/>
            <a:ext cx="35661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Now</a:t>
            </a:r>
            <a:endParaRPr lang="en-US" sz="1800" dirty="0"/>
          </a:p>
        </p:txBody>
      </p:sp>
      <p:sp>
        <p:nvSpPr>
          <p:cNvPr id="7" name="card"/>
          <p:cNvSpPr/>
          <p:nvPr/>
        </p:nvSpPr>
        <p:spPr>
          <a:xfrm>
            <a:off x="548640" y="2103120"/>
            <a:ext cx="3566160" cy="2834640"/>
          </a:xfrm>
          <a:prstGeom prst="roundRect">
            <a:avLst>
              <a:gd name="adj" fmla="val 2581"/>
            </a:avLst>
          </a:prstGeom>
          <a:solidFill>
            <a:srgbClr val="EEF1F7"/>
          </a:solidFill>
          <a:ln w="12700">
            <a:solidFill>
              <a:srgbClr val="EEF1F7"/>
            </a:solidFill>
            <a:prstDash val="solid"/>
          </a:ln>
        </p:spPr>
      </p:sp>
      <p:sp>
        <p:nvSpPr>
          <p:cNvPr id="8" name="Text 6"/>
          <p:cNvSpPr txBox="1"/>
          <p:nvPr/>
        </p:nvSpPr>
        <p:spPr>
          <a:xfrm>
            <a:off x="777240" y="228600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1F2A"/>
                </a:solidFill>
              </a:rPr>
              <a:t>Draft outreach &amp; summary</a:t>
            </a:r>
            <a:endParaRPr lang="en-US" sz="1500" dirty="0"/>
          </a:p>
          <a:p>
            <a:pPr marL="203200" indent="-203200">
              <a:spcAft>
                <a:spcPts val="800"/>
              </a:spcAft>
              <a:buSzPct val="100000"/>
              <a:buChar char="•"/>
            </a:pPr>
            <a:r>
              <a:rPr lang="en-US" sz="1500" dirty="0">
                <a:solidFill>
                  <a:srgbClr val="1B1F2A"/>
                </a:solidFill>
              </a:rPr>
              <a:t>AI Insight untuk sales manager</a:t>
            </a:r>
            <a:endParaRPr lang="en-US" sz="1500" dirty="0"/>
          </a:p>
          <a:p>
            <a:pPr marL="203200" indent="-203200">
              <a:spcAft>
                <a:spcPts val="800"/>
              </a:spcAft>
              <a:buSzPct val="100000"/>
              <a:buChar char="•"/>
            </a:pPr>
            <a:r>
              <a:rPr lang="en-US" sz="1500" dirty="0">
                <a:solidFill>
                  <a:srgbClr val="1B1F2A"/>
                </a:solidFill>
              </a:rPr>
              <a:t>AI credit per aksi</a:t>
            </a:r>
            <a:endParaRPr lang="en-US" sz="1500" dirty="0"/>
          </a:p>
        </p:txBody>
      </p:sp>
      <p:sp>
        <p:nvSpPr>
          <p:cNvPr id="9" name="Shape 7"/>
          <p:cNvSpPr/>
          <p:nvPr/>
        </p:nvSpPr>
        <p:spPr>
          <a:xfrm>
            <a:off x="4297680" y="1371600"/>
            <a:ext cx="3566160" cy="594360"/>
          </a:xfrm>
          <a:prstGeom prst="roundRect">
            <a:avLst>
              <a:gd name="adj" fmla="val 12308"/>
            </a:avLst>
          </a:prstGeom>
          <a:solidFill>
            <a:srgbClr val="6D4AFF"/>
          </a:solidFill>
          <a:ln w="12700">
            <a:solidFill>
              <a:srgbClr val="6D4AFF"/>
            </a:solidFill>
            <a:prstDash val="solid"/>
          </a:ln>
        </p:spPr>
      </p:sp>
      <p:sp>
        <p:nvSpPr>
          <p:cNvPr id="10" name="Text 8"/>
          <p:cNvSpPr txBox="1"/>
          <p:nvPr/>
        </p:nvSpPr>
        <p:spPr>
          <a:xfrm>
            <a:off x="4297680" y="1371600"/>
            <a:ext cx="35661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Next</a:t>
            </a:r>
            <a:endParaRPr lang="en-US" sz="1800" dirty="0"/>
          </a:p>
        </p:txBody>
      </p:sp>
      <p:sp>
        <p:nvSpPr>
          <p:cNvPr id="11" name="card"/>
          <p:cNvSpPr/>
          <p:nvPr/>
        </p:nvSpPr>
        <p:spPr>
          <a:xfrm>
            <a:off x="4297680" y="2103120"/>
            <a:ext cx="3566160" cy="2834640"/>
          </a:xfrm>
          <a:prstGeom prst="roundRect">
            <a:avLst>
              <a:gd name="adj" fmla="val 2581"/>
            </a:avLst>
          </a:prstGeom>
          <a:solidFill>
            <a:srgbClr val="ECE8FF"/>
          </a:solidFill>
          <a:ln w="12700">
            <a:solidFill>
              <a:srgbClr val="ECE8FF"/>
            </a:solidFill>
            <a:prstDash val="solid"/>
          </a:ln>
        </p:spPr>
      </p:sp>
      <p:sp>
        <p:nvSpPr>
          <p:cNvPr id="12" name="Text 10"/>
          <p:cNvSpPr txBox="1"/>
          <p:nvPr/>
        </p:nvSpPr>
        <p:spPr>
          <a:xfrm>
            <a:off x="4526280" y="228600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1F2A"/>
                </a:solidFill>
              </a:rPr>
              <a:t>Call transcription dan auto-summary ke Activity, voice note (STT)</a:t>
            </a:r>
            <a:endParaRPr lang="en-US" sz="1500" dirty="0"/>
          </a:p>
          <a:p>
            <a:pPr marL="203200" indent="-203200">
              <a:spcAft>
                <a:spcPts val="800"/>
              </a:spcAft>
              <a:buSzPct val="100000"/>
              <a:buChar char="•"/>
            </a:pPr>
            <a:r>
              <a:rPr lang="en-US" sz="1500" dirty="0">
                <a:solidFill>
                  <a:srgbClr val="1B1F2A"/>
                </a:solidFill>
              </a:rPr>
              <a:t>Rule-based lead scoring, Knowledge Base</a:t>
            </a:r>
            <a:endParaRPr lang="en-US" sz="1500" dirty="0"/>
          </a:p>
          <a:p>
            <a:pPr marL="203200" indent="-203200">
              <a:spcAft>
                <a:spcPts val="800"/>
              </a:spcAft>
              <a:buSzPct val="100000"/>
              <a:buChar char="•"/>
            </a:pPr>
            <a:r>
              <a:rPr lang="en-US" sz="1500" dirty="0">
                <a:solidFill>
                  <a:srgbClr val="1B1F2A"/>
                </a:solidFill>
              </a:rPr>
              <a:t>WhatsApp/Email sequence dengan consent gate</a:t>
            </a:r>
            <a:endParaRPr lang="en-US" sz="1500" dirty="0"/>
          </a:p>
        </p:txBody>
      </p:sp>
      <p:sp>
        <p:nvSpPr>
          <p:cNvPr id="13" name="Shape 11"/>
          <p:cNvSpPr/>
          <p:nvPr/>
        </p:nvSpPr>
        <p:spPr>
          <a:xfrm>
            <a:off x="8046720" y="1371600"/>
            <a:ext cx="3566160" cy="594360"/>
          </a:xfrm>
          <a:prstGeom prst="roundRect">
            <a:avLst>
              <a:gd name="adj" fmla="val 12308"/>
            </a:avLst>
          </a:prstGeom>
          <a:solidFill>
            <a:srgbClr val="8D99AE"/>
          </a:solidFill>
          <a:ln w="12700">
            <a:solidFill>
              <a:srgbClr val="8D99AE"/>
            </a:solidFill>
            <a:prstDash val="solid"/>
          </a:ln>
        </p:spPr>
      </p:sp>
      <p:sp>
        <p:nvSpPr>
          <p:cNvPr id="14" name="Text 12"/>
          <p:cNvSpPr txBox="1"/>
          <p:nvPr/>
        </p:nvSpPr>
        <p:spPr>
          <a:xfrm>
            <a:off x="8046720" y="1371600"/>
            <a:ext cx="35661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Later</a:t>
            </a:r>
            <a:endParaRPr lang="en-US" sz="1800" dirty="0"/>
          </a:p>
        </p:txBody>
      </p:sp>
      <p:sp>
        <p:nvSpPr>
          <p:cNvPr id="15" name="card"/>
          <p:cNvSpPr/>
          <p:nvPr/>
        </p:nvSpPr>
        <p:spPr>
          <a:xfrm>
            <a:off x="8046720" y="2103120"/>
            <a:ext cx="3566160" cy="2834640"/>
          </a:xfrm>
          <a:prstGeom prst="roundRect">
            <a:avLst>
              <a:gd name="adj" fmla="val 2581"/>
            </a:avLst>
          </a:prstGeom>
          <a:solidFill>
            <a:srgbClr val="EEF1F7"/>
          </a:solidFill>
          <a:ln w="12700">
            <a:solidFill>
              <a:srgbClr val="EEF1F7"/>
            </a:solidFill>
            <a:prstDash val="solid"/>
          </a:ln>
        </p:spPr>
      </p:sp>
      <p:sp>
        <p:nvSpPr>
          <p:cNvPr id="16" name="Text 14"/>
          <p:cNvSpPr txBox="1"/>
          <p:nvPr/>
        </p:nvSpPr>
        <p:spPr>
          <a:xfrm>
            <a:off x="8275320" y="228600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1F2A"/>
                </a:solidFill>
              </a:rPr>
              <a:t>Two-way AI Call</a:t>
            </a:r>
            <a:endParaRPr lang="en-US" sz="1500" dirty="0"/>
          </a:p>
          <a:p>
            <a:pPr marL="203200" indent="-203200">
              <a:spcAft>
                <a:spcPts val="800"/>
              </a:spcAft>
              <a:buSzPct val="100000"/>
              <a:buChar char="•"/>
            </a:pPr>
            <a:r>
              <a:rPr lang="en-US" sz="1500" dirty="0">
                <a:solidFill>
                  <a:srgbClr val="1B1F2A"/>
                </a:solidFill>
              </a:rPr>
              <a:t>Predictive scoring (membutuhkan data historis tenant)</a:t>
            </a:r>
            <a:endParaRPr lang="en-US" sz="1500" dirty="0"/>
          </a:p>
        </p:txBody>
      </p:sp>
      <p:sp>
        <p:nvSpPr>
          <p:cNvPr id="17" name="card"/>
          <p:cNvSpPr/>
          <p:nvPr/>
        </p:nvSpPr>
        <p:spPr>
          <a:xfrm>
            <a:off x="548640" y="5166360"/>
            <a:ext cx="11064240" cy="1005840"/>
          </a:xfrm>
          <a:prstGeom prst="roundRect">
            <a:avLst>
              <a:gd name="adj" fmla="val 7273"/>
            </a:avLst>
          </a:prstGeom>
          <a:solidFill>
            <a:srgbClr val="14213D"/>
          </a:solidFill>
          <a:ln w="12700">
            <a:solidFill>
              <a:srgbClr val="14213D"/>
            </a:solidFill>
            <a:prstDash val="solid"/>
          </a:ln>
        </p:spPr>
      </p:sp>
      <p:sp>
        <p:nvSpPr>
          <p:cNvPr id="18" name="Text 16"/>
          <p:cNvSpPr txBox="1"/>
          <p:nvPr/>
        </p:nvSpPr>
        <p:spPr>
          <a:xfrm>
            <a:off x="822960" y="5166360"/>
            <a:ext cx="10515600" cy="1005840"/>
          </a:xfrm>
          <a:prstGeom prst="rect">
            <a:avLst/>
          </a:prstGeom>
          <a:noFill/>
          <a:ln/>
        </p:spPr>
        <p:txBody>
          <a:bodyPr wrap="square" lIns="0" tIns="0" rIns="0" bIns="0" rtlCol="0" anchor="ctr"/>
          <a:lstStyle/>
          <a:p>
            <a:pPr indent="0" marL="0">
              <a:buNone/>
            </a:pPr>
            <a:r>
              <a:rPr lang="en-US" sz="1600" b="1" dirty="0">
                <a:solidFill>
                  <a:srgbClr val="F5A524"/>
                </a:solidFill>
              </a:rPr>
              <a:t>AI guardrails: </a:t>
            </a:r>
            <a:pPr indent="0" marL="0">
              <a:buNone/>
            </a:pPr>
            <a:r>
              <a:rPr lang="en-US" sz="1600" dirty="0">
                <a:solidFill>
                  <a:srgbClr val="FFFFFF"/>
                </a:solidFill>
              </a:rPr>
              <a:t>consent sebagai gate, jawaban hanya dari sumber yang di-approve, data tidak keluar dari tenant, dan setiap output AI dapat diedit oleh user.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Pricing mengikuti value, variable cost tidak menggerus margin</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8</a:t>
            </a:r>
            <a:endParaRPr lang="en-US" sz="1000" dirty="0"/>
          </a:p>
        </p:txBody>
      </p:sp>
      <p:sp>
        <p:nvSpPr>
          <p:cNvPr id="5" name="card"/>
          <p:cNvSpPr/>
          <p:nvPr/>
        </p:nvSpPr>
        <p:spPr>
          <a:xfrm>
            <a:off x="548640" y="1463040"/>
            <a:ext cx="5440680" cy="2103120"/>
          </a:xfrm>
          <a:prstGeom prst="roundRect">
            <a:avLst>
              <a:gd name="adj" fmla="val 3478"/>
            </a:avLst>
          </a:prstGeom>
          <a:solidFill>
            <a:srgbClr val="EEF1F7"/>
          </a:solidFill>
          <a:ln w="12700">
            <a:solidFill>
              <a:srgbClr val="EEF1F7"/>
            </a:solidFill>
            <a:prstDash val="solid"/>
          </a:ln>
        </p:spPr>
      </p:sp>
      <p:sp>
        <p:nvSpPr>
          <p:cNvPr id="6" name="Text 4"/>
          <p:cNvSpPr txBox="1"/>
          <p:nvPr/>
        </p:nvSpPr>
        <p:spPr>
          <a:xfrm>
            <a:off x="868680" y="1737360"/>
            <a:ext cx="4754880" cy="457200"/>
          </a:xfrm>
          <a:prstGeom prst="rect">
            <a:avLst/>
          </a:prstGeom>
          <a:noFill/>
          <a:ln/>
        </p:spPr>
        <p:txBody>
          <a:bodyPr wrap="square" lIns="0" tIns="0" rIns="0" bIns="0" rtlCol="0" anchor="ctr"/>
          <a:lstStyle/>
          <a:p>
            <a:pPr indent="0" marL="0">
              <a:buNone/>
            </a:pPr>
            <a:r>
              <a:rPr lang="en-US" sz="2200" b="1" dirty="0">
                <a:solidFill>
                  <a:srgbClr val="6D4AFF"/>
                </a:solidFill>
                <a:latin typeface="Cambria" pitchFamily="34" charset="0"/>
                <a:ea typeface="Cambria" pitchFamily="34" charset="-122"/>
                <a:cs typeface="Cambria" pitchFamily="34" charset="-120"/>
              </a:rPr>
              <a:t>Target market</a:t>
            </a:r>
            <a:endParaRPr lang="en-US" sz="2200" dirty="0"/>
          </a:p>
        </p:txBody>
      </p:sp>
      <p:sp>
        <p:nvSpPr>
          <p:cNvPr id="7" name="Text 5"/>
          <p:cNvSpPr txBox="1"/>
          <p:nvPr/>
        </p:nvSpPr>
        <p:spPr>
          <a:xfrm>
            <a:off x="868680" y="2331720"/>
            <a:ext cx="4754880" cy="1097280"/>
          </a:xfrm>
          <a:prstGeom prst="rect">
            <a:avLst/>
          </a:prstGeom>
          <a:noFill/>
          <a:ln/>
        </p:spPr>
        <p:txBody>
          <a:bodyPr wrap="square" lIns="0" tIns="0" rIns="0" bIns="0" rtlCol="0" anchor="t"/>
          <a:lstStyle/>
          <a:p>
            <a:pPr indent="0" marL="0">
              <a:buNone/>
            </a:pPr>
            <a:r>
              <a:rPr lang="en-US" sz="1800" dirty="0">
                <a:solidFill>
                  <a:srgbClr val="1B1F2A"/>
                </a:solidFill>
              </a:rPr>
              <a:t>Perusahaan menengah-besar, sales-led, annual contract dengan pembayaran upfront</a:t>
            </a:r>
            <a:endParaRPr lang="en-US" sz="1800" dirty="0"/>
          </a:p>
        </p:txBody>
      </p:sp>
      <p:sp>
        <p:nvSpPr>
          <p:cNvPr id="8" name="card"/>
          <p:cNvSpPr/>
          <p:nvPr/>
        </p:nvSpPr>
        <p:spPr>
          <a:xfrm>
            <a:off x="6172200" y="1463040"/>
            <a:ext cx="5440680" cy="2103120"/>
          </a:xfrm>
          <a:prstGeom prst="roundRect">
            <a:avLst>
              <a:gd name="adj" fmla="val 3478"/>
            </a:avLst>
          </a:prstGeom>
          <a:solidFill>
            <a:srgbClr val="EEF1F7"/>
          </a:solidFill>
          <a:ln w="12700">
            <a:solidFill>
              <a:srgbClr val="EEF1F7"/>
            </a:solidFill>
            <a:prstDash val="solid"/>
          </a:ln>
        </p:spPr>
      </p:sp>
      <p:sp>
        <p:nvSpPr>
          <p:cNvPr id="9" name="Text 7"/>
          <p:cNvSpPr txBox="1"/>
          <p:nvPr/>
        </p:nvSpPr>
        <p:spPr>
          <a:xfrm>
            <a:off x="6492240" y="1737360"/>
            <a:ext cx="4754880" cy="457200"/>
          </a:xfrm>
          <a:prstGeom prst="rect">
            <a:avLst/>
          </a:prstGeom>
          <a:noFill/>
          <a:ln/>
        </p:spPr>
        <p:txBody>
          <a:bodyPr wrap="square" lIns="0" tIns="0" rIns="0" bIns="0" rtlCol="0" anchor="ctr"/>
          <a:lstStyle/>
          <a:p>
            <a:pPr indent="0" marL="0">
              <a:buNone/>
            </a:pPr>
            <a:r>
              <a:rPr lang="en-US" sz="2200" b="1" dirty="0">
                <a:solidFill>
                  <a:srgbClr val="6D4AFF"/>
                </a:solidFill>
                <a:latin typeface="Cambria" pitchFamily="34" charset="0"/>
                <a:ea typeface="Cambria" pitchFamily="34" charset="-122"/>
                <a:cs typeface="Cambria" pitchFamily="34" charset="-120"/>
              </a:rPr>
              <a:t>Value metric</a:t>
            </a:r>
            <a:endParaRPr lang="en-US" sz="2200" dirty="0"/>
          </a:p>
        </p:txBody>
      </p:sp>
      <p:sp>
        <p:nvSpPr>
          <p:cNvPr id="10" name="Text 8"/>
          <p:cNvSpPr txBox="1"/>
          <p:nvPr/>
        </p:nvSpPr>
        <p:spPr>
          <a:xfrm>
            <a:off x="6492240" y="2331720"/>
            <a:ext cx="4754880" cy="1097280"/>
          </a:xfrm>
          <a:prstGeom prst="rect">
            <a:avLst/>
          </a:prstGeom>
          <a:noFill/>
          <a:ln/>
        </p:spPr>
        <p:txBody>
          <a:bodyPr wrap="square" lIns="0" tIns="0" rIns="0" bIns="0" rtlCol="0" anchor="t"/>
          <a:lstStyle/>
          <a:p>
            <a:pPr indent="0" marL="0">
              <a:buNone/>
            </a:pPr>
            <a:r>
              <a:rPr lang="en-US" sz="1800" dirty="0">
                <a:solidFill>
                  <a:srgbClr val="1B1F2A"/>
                </a:solidFill>
              </a:rPr>
              <a:t>Per seat, ditambah AI credit pool per kontrak</a:t>
            </a:r>
            <a:endParaRPr lang="en-US" sz="1800" dirty="0"/>
          </a:p>
        </p:txBody>
      </p:sp>
      <p:sp>
        <p:nvSpPr>
          <p:cNvPr id="11" name="card"/>
          <p:cNvSpPr/>
          <p:nvPr/>
        </p:nvSpPr>
        <p:spPr>
          <a:xfrm>
            <a:off x="548640" y="3794760"/>
            <a:ext cx="5440680" cy="2103120"/>
          </a:xfrm>
          <a:prstGeom prst="roundRect">
            <a:avLst>
              <a:gd name="adj" fmla="val 3478"/>
            </a:avLst>
          </a:prstGeom>
          <a:solidFill>
            <a:srgbClr val="EEF1F7"/>
          </a:solidFill>
          <a:ln w="12700">
            <a:solidFill>
              <a:srgbClr val="EEF1F7"/>
            </a:solidFill>
            <a:prstDash val="solid"/>
          </a:ln>
        </p:spPr>
      </p:sp>
      <p:sp>
        <p:nvSpPr>
          <p:cNvPr id="12" name="Text 10"/>
          <p:cNvSpPr txBox="1"/>
          <p:nvPr/>
        </p:nvSpPr>
        <p:spPr>
          <a:xfrm>
            <a:off x="868680" y="4069080"/>
            <a:ext cx="4754880" cy="457200"/>
          </a:xfrm>
          <a:prstGeom prst="rect">
            <a:avLst/>
          </a:prstGeom>
          <a:noFill/>
          <a:ln/>
        </p:spPr>
        <p:txBody>
          <a:bodyPr wrap="square" lIns="0" tIns="0" rIns="0" bIns="0" rtlCol="0" anchor="ctr"/>
          <a:lstStyle/>
          <a:p>
            <a:pPr indent="0" marL="0">
              <a:buNone/>
            </a:pPr>
            <a:r>
              <a:rPr lang="en-US" sz="2200" b="1" dirty="0">
                <a:solidFill>
                  <a:srgbClr val="6D4AFF"/>
                </a:solidFill>
                <a:latin typeface="Cambria" pitchFamily="34" charset="0"/>
                <a:ea typeface="Cambria" pitchFamily="34" charset="-122"/>
                <a:cs typeface="Cambria" pitchFamily="34" charset="-120"/>
              </a:rPr>
              <a:t>Variable cost</a:t>
            </a:r>
            <a:endParaRPr lang="en-US" sz="2200" dirty="0"/>
          </a:p>
        </p:txBody>
      </p:sp>
      <p:sp>
        <p:nvSpPr>
          <p:cNvPr id="13" name="Text 11"/>
          <p:cNvSpPr txBox="1"/>
          <p:nvPr/>
        </p:nvSpPr>
        <p:spPr>
          <a:xfrm>
            <a:off x="868680" y="4663440"/>
            <a:ext cx="4754880" cy="1097280"/>
          </a:xfrm>
          <a:prstGeom prst="rect">
            <a:avLst/>
          </a:prstGeom>
          <a:noFill/>
          <a:ln/>
        </p:spPr>
        <p:txBody>
          <a:bodyPr wrap="square" lIns="0" tIns="0" rIns="0" bIns="0" rtlCol="0" anchor="t"/>
          <a:lstStyle/>
          <a:p>
            <a:pPr indent="0" marL="0">
              <a:buNone/>
            </a:pPr>
            <a:r>
              <a:rPr lang="en-US" sz="1800" dirty="0">
                <a:solidFill>
                  <a:srgbClr val="1B1F2A"/>
                </a:solidFill>
              </a:rPr>
              <a:t>AI dan WhatsApp dijual sebagai add-on, tidak dibundel ke harga seat</a:t>
            </a:r>
            <a:endParaRPr lang="en-US" sz="1800" dirty="0"/>
          </a:p>
        </p:txBody>
      </p:sp>
      <p:sp>
        <p:nvSpPr>
          <p:cNvPr id="14" name="card"/>
          <p:cNvSpPr/>
          <p:nvPr/>
        </p:nvSpPr>
        <p:spPr>
          <a:xfrm>
            <a:off x="6172200" y="3794760"/>
            <a:ext cx="5440680" cy="2103120"/>
          </a:xfrm>
          <a:prstGeom prst="roundRect">
            <a:avLst>
              <a:gd name="adj" fmla="val 3478"/>
            </a:avLst>
          </a:prstGeom>
          <a:solidFill>
            <a:srgbClr val="EEF1F7"/>
          </a:solidFill>
          <a:ln w="12700">
            <a:solidFill>
              <a:srgbClr val="EEF1F7"/>
            </a:solidFill>
            <a:prstDash val="solid"/>
          </a:ln>
        </p:spPr>
      </p:sp>
      <p:sp>
        <p:nvSpPr>
          <p:cNvPr id="15" name="Text 13"/>
          <p:cNvSpPr txBox="1"/>
          <p:nvPr/>
        </p:nvSpPr>
        <p:spPr>
          <a:xfrm>
            <a:off x="6492240" y="4069080"/>
            <a:ext cx="4754880" cy="457200"/>
          </a:xfrm>
          <a:prstGeom prst="rect">
            <a:avLst/>
          </a:prstGeom>
          <a:noFill/>
          <a:ln/>
        </p:spPr>
        <p:txBody>
          <a:bodyPr wrap="square" lIns="0" tIns="0" rIns="0" bIns="0" rtlCol="0" anchor="ctr"/>
          <a:lstStyle/>
          <a:p>
            <a:pPr indent="0" marL="0">
              <a:buNone/>
            </a:pPr>
            <a:r>
              <a:rPr lang="en-US" sz="2200" b="1" dirty="0">
                <a:solidFill>
                  <a:srgbClr val="6D4AFF"/>
                </a:solidFill>
                <a:latin typeface="Cambria" pitchFamily="34" charset="0"/>
                <a:ea typeface="Cambria" pitchFamily="34" charset="-122"/>
                <a:cs typeface="Cambria" pitchFamily="34" charset="-120"/>
              </a:rPr>
              <a:t>Core feature</a:t>
            </a:r>
            <a:endParaRPr lang="en-US" sz="2200" dirty="0"/>
          </a:p>
        </p:txBody>
      </p:sp>
      <p:sp>
        <p:nvSpPr>
          <p:cNvPr id="16" name="Text 14"/>
          <p:cNvSpPr txBox="1"/>
          <p:nvPr/>
        </p:nvSpPr>
        <p:spPr>
          <a:xfrm>
            <a:off x="6492240" y="4663440"/>
            <a:ext cx="4754880" cy="1097280"/>
          </a:xfrm>
          <a:prstGeom prst="rect">
            <a:avLst/>
          </a:prstGeom>
          <a:noFill/>
          <a:ln/>
        </p:spPr>
        <p:txBody>
          <a:bodyPr wrap="square" lIns="0" tIns="0" rIns="0" bIns="0" rtlCol="0" anchor="t"/>
          <a:lstStyle/>
          <a:p>
            <a:pPr indent="0" marL="0">
              <a:buNone/>
            </a:pPr>
            <a:r>
              <a:rPr lang="en-US" sz="1800" dirty="0">
                <a:solidFill>
                  <a:srgbClr val="1B1F2A"/>
                </a:solidFill>
              </a:rPr>
              <a:t>Fitur sales inti tersedia di semua plan dan tidak pernah dikunci</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Tiga plan, dengan Pilot sebagai entry point</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383280"/>
                <a:gridCol w="2560320"/>
                <a:gridCol w="2560320"/>
                <a:gridCol w="2560320"/>
              </a:tblGrid>
              <a:tr h="402336">
                <a:tc>
                  <a:txBody>
                    <a:bodyPr/>
                    <a:lstStyle/>
                    <a:p>
                      <a:pPr indent="0" marL="0">
                        <a:buNone/>
                      </a:pP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Business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Advanced</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Premium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Seat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Minimum commitment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Mid-tier band</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Custom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Pipeline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Fair use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Custom field per object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Assignment rule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Sequential + round-robin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Lead scoring &amp; full reporting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AI credit per seat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Basic</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Standard</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Audit log &amp; custom role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Basic</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 + export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SSO, sandbox, extended retention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Add-on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Support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Business hours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Contractual SLA</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bl>
          </a:graphicData>
        </a:graphic>
      </p:graphicFrame>
      <p:sp>
        <p:nvSpPr>
          <p:cNvPr id="6" name="Text 3"/>
          <p:cNvSpPr txBox="1"/>
          <p:nvPr/>
        </p:nvSpPr>
        <p:spPr>
          <a:xfrm>
            <a:off x="548640" y="5669280"/>
            <a:ext cx="11064240" cy="320040"/>
          </a:xfrm>
          <a:prstGeom prst="rect">
            <a:avLst/>
          </a:prstGeom>
          <a:noFill/>
          <a:ln/>
        </p:spPr>
        <p:txBody>
          <a:bodyPr wrap="square" lIns="0" tIns="0" rIns="0" bIns="0" rtlCol="0" anchor="ctr"/>
          <a:lstStyle/>
          <a:p>
            <a:pPr indent="0" marL="0">
              <a:buNone/>
            </a:pPr>
            <a:r>
              <a:rPr lang="en-US" sz="1400" i="1" dirty="0">
                <a:solidFill>
                  <a:srgbClr val="9A6700"/>
                </a:solidFill>
              </a:rPr>
              <a:t>Harga: [Rp __ / seat / tahun], menunggu keputusan. Kuota di atas adalah starting point negosiasi.</a:t>
            </a:r>
            <a:endParaRPr lang="en-US" sz="1400" dirty="0"/>
          </a:p>
        </p:txBody>
      </p:sp>
      <p:sp>
        <p:nvSpPr>
          <p:cNvPr id="7" name="Text 4"/>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400" b="1" dirty="0">
                <a:solidFill>
                  <a:srgbClr val="14213D"/>
                </a:solidFill>
              </a:rPr>
              <a:t>Entry point: Pilot/PoC berjangka (bukan self-serve trial), dilanjutkan ke annual contract.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AI credit: sederhana bagi klien, terukur bagi kita</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10</a:t>
            </a:r>
            <a:endParaRPr lang="en-US" sz="1000" dirty="0"/>
          </a:p>
        </p:txBody>
      </p:sp>
      <p:sp>
        <p:nvSpPr>
          <p:cNvPr id="5" name="Text 3"/>
          <p:cNvSpPr txBox="1"/>
          <p:nvPr/>
        </p:nvSpPr>
        <p:spPr>
          <a:xfrm>
            <a:off x="548640" y="1371600"/>
            <a:ext cx="4937760" cy="31089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B1F2A"/>
                </a:solidFill>
              </a:rPr>
              <a:t>1 credit = 1 aksi AI standar, dengan flat rate per aksi</a:t>
            </a:r>
            <a:endParaRPr lang="en-US" sz="1700" dirty="0"/>
          </a:p>
          <a:p>
            <a:pPr marL="203200" indent="-203200">
              <a:spcAft>
                <a:spcPts val="800"/>
              </a:spcAft>
              <a:buSzPct val="100000"/>
              <a:buChar char="•"/>
            </a:pPr>
            <a:r>
              <a:rPr lang="en-US" sz="1700" dirty="0">
                <a:solidFill>
                  <a:srgbClr val="1B1F2A"/>
                </a:solidFill>
              </a:rPr>
              <a:t>Biaya terlihat di tombol: "Generate draft (1 credit)"</a:t>
            </a:r>
            <a:endParaRPr lang="en-US" sz="1700" dirty="0"/>
          </a:p>
          <a:p>
            <a:pPr marL="203200" indent="-203200">
              <a:spcAft>
                <a:spcPts val="800"/>
              </a:spcAft>
              <a:buSzPct val="100000"/>
              <a:buChar char="•"/>
            </a:pPr>
            <a:r>
              <a:rPr lang="en-US" sz="1700" dirty="0">
                <a:solidFill>
                  <a:srgbClr val="1B1F2A"/>
                </a:solidFill>
              </a:rPr>
              <a:t>Saldo dalam bahasa user: "1.240 credit ≈ 1.240 draft pesan"</a:t>
            </a:r>
            <a:endParaRPr lang="en-US" sz="1700" dirty="0"/>
          </a:p>
          <a:p>
            <a:pPr marL="203200" indent="-203200">
              <a:spcAft>
                <a:spcPts val="800"/>
              </a:spcAft>
              <a:buSzPct val="100000"/>
              <a:buChar char="•"/>
            </a:pPr>
            <a:r>
              <a:rPr lang="en-US" sz="1700" dirty="0">
                <a:solidFill>
                  <a:srgbClr val="1B1F2A"/>
                </a:solidFill>
              </a:rPr>
              <a:t>Aksi yang gagal tidak memotong credit</a:t>
            </a:r>
            <a:endParaRPr lang="en-US" sz="1700" dirty="0"/>
          </a:p>
        </p:txBody>
      </p:sp>
      <p:sp>
        <p:nvSpPr>
          <p:cNvPr id="6" name="card"/>
          <p:cNvSpPr/>
          <p:nvPr/>
        </p:nvSpPr>
        <p:spPr>
          <a:xfrm>
            <a:off x="548640" y="4572000"/>
            <a:ext cx="4937760" cy="1600200"/>
          </a:xfrm>
          <a:prstGeom prst="roundRect">
            <a:avLst>
              <a:gd name="adj" fmla="val 4571"/>
            </a:avLst>
          </a:prstGeom>
          <a:solidFill>
            <a:srgbClr val="ECE8FF"/>
          </a:solidFill>
          <a:ln w="12700">
            <a:solidFill>
              <a:srgbClr val="ECE8FF"/>
            </a:solidFill>
            <a:prstDash val="solid"/>
          </a:ln>
        </p:spPr>
      </p:sp>
      <p:sp>
        <p:nvSpPr>
          <p:cNvPr id="7" name="Text 5"/>
          <p:cNvSpPr txBox="1"/>
          <p:nvPr/>
        </p:nvSpPr>
        <p:spPr>
          <a:xfrm>
            <a:off x="777240" y="4617720"/>
            <a:ext cx="4480560" cy="1508760"/>
          </a:xfrm>
          <a:prstGeom prst="rect">
            <a:avLst/>
          </a:prstGeom>
          <a:noFill/>
          <a:ln/>
        </p:spPr>
        <p:txBody>
          <a:bodyPr wrap="square" lIns="0" tIns="0" rIns="0" bIns="0" rtlCol="0" anchor="ctr"/>
          <a:lstStyle/>
          <a:p>
            <a:pPr indent="0" marL="0">
              <a:buNone/>
            </a:pPr>
            <a:r>
              <a:rPr lang="en-US" sz="1400" b="1" dirty="0">
                <a:solidFill>
                  <a:srgbClr val="6D4AFF"/>
                </a:solidFill>
              </a:rPr>
              <a:t>Under the hood</a:t>
            </a:r>
            <a:endParaRPr lang="en-US" sz="1400" dirty="0"/>
          </a:p>
          <a:p>
            <a:pPr indent="0" marL="0">
              <a:buNone/>
            </a:pPr>
            <a:r>
              <a:rPr lang="en-US" sz="1400" dirty="0">
                <a:solidFill>
                  <a:srgbClr val="1B1F2A"/>
                </a:solidFill>
              </a:rPr>
              <a:t>Rate ditetapkan dari P90 token usage aktual, dengan batas input/output per aksi, lalu ditambah margin.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1371600"/>
          <a:ext cx="5669280" cy="914400"/>
        </p:xfrm>
        <a:graphic>
          <a:graphicData uri="http://schemas.openxmlformats.org/drawingml/2006/table">
            <a:tbl>
              <a:tblPr/>
              <a:tblGrid>
                <a:gridCol w="3566160"/>
                <a:gridCol w="2103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 action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Credit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Draft outreach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Summary</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Product Q&amp;A (Knowledge Base)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AI Insight untuk manager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Call transcription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 / menit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4572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Text-to-speech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1 / 1.000 karakter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943600" y="4754880"/>
            <a:ext cx="5669280" cy="365760"/>
          </a:xfrm>
          <a:prstGeom prst="rect">
            <a:avLst/>
          </a:prstGeom>
          <a:noFill/>
          <a:ln/>
        </p:spPr>
        <p:txBody>
          <a:bodyPr wrap="square" lIns="0" tIns="0" rIns="0" bIns="0" rtlCol="0" anchor="ctr"/>
          <a:lstStyle/>
          <a:p>
            <a:pPr indent="0" marL="0">
              <a:buNone/>
            </a:pPr>
            <a:r>
              <a:rPr lang="en-US" sz="1400" i="1" dirty="0">
                <a:solidFill>
                  <a:srgbClr val="9A6700"/>
                </a:solidFill>
              </a:rPr>
              <a:t>Rate masih indikatif dan akan dikalibrasi dari usage log selama Pilot.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Add-on berbasis usage, kuota habis tidak menghentikan CRM</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3931920"/>
                <a:gridCol w="384048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Add-on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Unit limit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Saat kuota habis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WhatsApp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Message bundle per kontrak</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Pengiriman WhatsApp di-pause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Email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Volume &amp; sending domain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Pengiriman email di-pause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Follow-up sequence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Active sequence &amp; enrolled lead</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Sequence baru tidak dapat dibuat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Voice (STT/TTS)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AI credit pool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Fitur voice di-pause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Seat, webhook, storage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Per unit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Penambahan baru ditolak</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bl>
          </a:graphicData>
        </a:graphic>
      </p:graphicFrame>
      <p:sp>
        <p:nvSpPr>
          <p:cNvPr id="6" name="card"/>
          <p:cNvSpPr/>
          <p:nvPr/>
        </p:nvSpPr>
        <p:spPr>
          <a:xfrm>
            <a:off x="548640" y="4846320"/>
            <a:ext cx="3566160" cy="1280160"/>
          </a:xfrm>
          <a:prstGeom prst="roundRect">
            <a:avLst>
              <a:gd name="adj" fmla="val 5714"/>
            </a:avLst>
          </a:prstGeom>
          <a:solidFill>
            <a:srgbClr val="EEF1F7"/>
          </a:solidFill>
          <a:ln w="12700">
            <a:solidFill>
              <a:srgbClr val="EEF1F7"/>
            </a:solidFill>
            <a:prstDash val="solid"/>
          </a:ln>
        </p:spPr>
      </p:sp>
      <p:sp>
        <p:nvSpPr>
          <p:cNvPr id="7" name="Text 4"/>
          <p:cNvSpPr txBox="1"/>
          <p:nvPr/>
        </p:nvSpPr>
        <p:spPr>
          <a:xfrm>
            <a:off x="548640" y="4937760"/>
            <a:ext cx="3566160" cy="548640"/>
          </a:xfrm>
          <a:prstGeom prst="rect">
            <a:avLst/>
          </a:prstGeom>
          <a:noFill/>
          <a:ln/>
        </p:spPr>
        <p:txBody>
          <a:bodyPr wrap="square" lIns="0" tIns="0" rIns="0" bIns="0" rtlCol="0" anchor="ctr"/>
          <a:lstStyle/>
          <a:p>
            <a:pPr algn="ctr" indent="0" marL="0">
              <a:buNone/>
            </a:pPr>
            <a:r>
              <a:rPr lang="en-US" sz="2200" b="1" dirty="0">
                <a:solidFill>
                  <a:srgbClr val="6D4AFF"/>
                </a:solidFill>
                <a:latin typeface="Cambria" pitchFamily="34" charset="0"/>
                <a:ea typeface="Cambria" pitchFamily="34" charset="-122"/>
                <a:cs typeface="Cambria" pitchFamily="34" charset="-120"/>
              </a:rPr>
              <a:t>80% &amp; 95%</a:t>
            </a:r>
            <a:endParaRPr lang="en-US" sz="2200" dirty="0"/>
          </a:p>
        </p:txBody>
      </p:sp>
      <p:sp>
        <p:nvSpPr>
          <p:cNvPr id="8" name="Text 5"/>
          <p:cNvSpPr txBox="1"/>
          <p:nvPr/>
        </p:nvSpPr>
        <p:spPr>
          <a:xfrm>
            <a:off x="548640" y="5486400"/>
            <a:ext cx="3566160" cy="457200"/>
          </a:xfrm>
          <a:prstGeom prst="rect">
            <a:avLst/>
          </a:prstGeom>
          <a:noFill/>
          <a:ln/>
        </p:spPr>
        <p:txBody>
          <a:bodyPr wrap="square" lIns="0" tIns="0" rIns="0" bIns="0" rtlCol="0" anchor="ctr"/>
          <a:lstStyle/>
          <a:p>
            <a:pPr algn="ctr" indent="0" marL="0">
              <a:buNone/>
            </a:pPr>
            <a:r>
              <a:rPr lang="en-US" sz="1400" dirty="0">
                <a:solidFill>
                  <a:srgbClr val="5B6478"/>
                </a:solidFill>
              </a:rPr>
              <a:t>Usage alert ke admin</a:t>
            </a:r>
            <a:endParaRPr lang="en-US" sz="1400" dirty="0"/>
          </a:p>
        </p:txBody>
      </p:sp>
      <p:sp>
        <p:nvSpPr>
          <p:cNvPr id="9" name="card"/>
          <p:cNvSpPr/>
          <p:nvPr/>
        </p:nvSpPr>
        <p:spPr>
          <a:xfrm>
            <a:off x="4297680" y="4846320"/>
            <a:ext cx="3566160" cy="1280160"/>
          </a:xfrm>
          <a:prstGeom prst="roundRect">
            <a:avLst>
              <a:gd name="adj" fmla="val 5714"/>
            </a:avLst>
          </a:prstGeom>
          <a:solidFill>
            <a:srgbClr val="EEF1F7"/>
          </a:solidFill>
          <a:ln w="12700">
            <a:solidFill>
              <a:srgbClr val="EEF1F7"/>
            </a:solidFill>
            <a:prstDash val="solid"/>
          </a:ln>
        </p:spPr>
      </p:sp>
      <p:sp>
        <p:nvSpPr>
          <p:cNvPr id="10" name="Text 7"/>
          <p:cNvSpPr txBox="1"/>
          <p:nvPr/>
        </p:nvSpPr>
        <p:spPr>
          <a:xfrm>
            <a:off x="4297680" y="4937760"/>
            <a:ext cx="3566160" cy="548640"/>
          </a:xfrm>
          <a:prstGeom prst="rect">
            <a:avLst/>
          </a:prstGeom>
          <a:noFill/>
          <a:ln/>
        </p:spPr>
        <p:txBody>
          <a:bodyPr wrap="square" lIns="0" tIns="0" rIns="0" bIns="0" rtlCol="0" anchor="ctr"/>
          <a:lstStyle/>
          <a:p>
            <a:pPr algn="ctr" indent="0" marL="0">
              <a:buNone/>
            </a:pPr>
            <a:r>
              <a:rPr lang="en-US" sz="2200" b="1" dirty="0">
                <a:solidFill>
                  <a:srgbClr val="6D4AFF"/>
                </a:solidFill>
                <a:latin typeface="Cambria" pitchFamily="34" charset="0"/>
                <a:ea typeface="Cambria" pitchFamily="34" charset="-122"/>
                <a:cs typeface="Cambria" pitchFamily="34" charset="-120"/>
              </a:rPr>
              <a:t>Per contract term</a:t>
            </a:r>
            <a:endParaRPr lang="en-US" sz="2200" dirty="0"/>
          </a:p>
        </p:txBody>
      </p:sp>
      <p:sp>
        <p:nvSpPr>
          <p:cNvPr id="11" name="Text 8"/>
          <p:cNvSpPr txBox="1"/>
          <p:nvPr/>
        </p:nvSpPr>
        <p:spPr>
          <a:xfrm>
            <a:off x="4297680" y="5486400"/>
            <a:ext cx="3566160" cy="457200"/>
          </a:xfrm>
          <a:prstGeom prst="rect">
            <a:avLst/>
          </a:prstGeom>
          <a:noFill/>
          <a:ln/>
        </p:spPr>
        <p:txBody>
          <a:bodyPr wrap="square" lIns="0" tIns="0" rIns="0" bIns="0" rtlCol="0" anchor="ctr"/>
          <a:lstStyle/>
          <a:p>
            <a:pPr algn="ctr" indent="0" marL="0">
              <a:buNone/>
            </a:pPr>
            <a:r>
              <a:rPr lang="en-US" sz="1400" dirty="0">
                <a:solidFill>
                  <a:srgbClr val="5B6478"/>
                </a:solidFill>
              </a:rPr>
              <a:t>Masa berlaku kuota</a:t>
            </a:r>
            <a:endParaRPr lang="en-US" sz="1400" dirty="0"/>
          </a:p>
        </p:txBody>
      </p:sp>
      <p:sp>
        <p:nvSpPr>
          <p:cNvPr id="12" name="card"/>
          <p:cNvSpPr/>
          <p:nvPr/>
        </p:nvSpPr>
        <p:spPr>
          <a:xfrm>
            <a:off x="8046720" y="4846320"/>
            <a:ext cx="3566160" cy="1280160"/>
          </a:xfrm>
          <a:prstGeom prst="roundRect">
            <a:avLst>
              <a:gd name="adj" fmla="val 5714"/>
            </a:avLst>
          </a:prstGeom>
          <a:solidFill>
            <a:srgbClr val="EEF1F7"/>
          </a:solidFill>
          <a:ln w="12700">
            <a:solidFill>
              <a:srgbClr val="EEF1F7"/>
            </a:solidFill>
            <a:prstDash val="solid"/>
          </a:ln>
        </p:spPr>
      </p:sp>
      <p:sp>
        <p:nvSpPr>
          <p:cNvPr id="13" name="Text 10"/>
          <p:cNvSpPr txBox="1"/>
          <p:nvPr/>
        </p:nvSpPr>
        <p:spPr>
          <a:xfrm>
            <a:off x="8046720" y="4937760"/>
            <a:ext cx="3566160" cy="548640"/>
          </a:xfrm>
          <a:prstGeom prst="rect">
            <a:avLst/>
          </a:prstGeom>
          <a:noFill/>
          <a:ln/>
        </p:spPr>
        <p:txBody>
          <a:bodyPr wrap="square" lIns="0" tIns="0" rIns="0" bIns="0" rtlCol="0" anchor="ctr"/>
          <a:lstStyle/>
          <a:p>
            <a:pPr algn="ctr" indent="0" marL="0">
              <a:buNone/>
            </a:pPr>
            <a:r>
              <a:rPr lang="en-US" sz="2200" b="1" dirty="0">
                <a:solidFill>
                  <a:srgbClr val="6D4AFF"/>
                </a:solidFill>
                <a:latin typeface="Cambria" pitchFamily="34" charset="0"/>
                <a:ea typeface="Cambria" pitchFamily="34" charset="-122"/>
                <a:cs typeface="Cambria" pitchFamily="34" charset="-120"/>
              </a:rPr>
              <a:t>Via account manager</a:t>
            </a:r>
            <a:endParaRPr lang="en-US" sz="2200" dirty="0"/>
          </a:p>
        </p:txBody>
      </p:sp>
      <p:sp>
        <p:nvSpPr>
          <p:cNvPr id="14" name="Text 11"/>
          <p:cNvSpPr txBox="1"/>
          <p:nvPr/>
        </p:nvSpPr>
        <p:spPr>
          <a:xfrm>
            <a:off x="8046720" y="5486400"/>
            <a:ext cx="3566160" cy="457200"/>
          </a:xfrm>
          <a:prstGeom prst="rect">
            <a:avLst/>
          </a:prstGeom>
          <a:noFill/>
          <a:ln/>
        </p:spPr>
        <p:txBody>
          <a:bodyPr wrap="square" lIns="0" tIns="0" rIns="0" bIns="0" rtlCol="0" anchor="ctr"/>
          <a:lstStyle/>
          <a:p>
            <a:pPr algn="ctr" indent="0" marL="0">
              <a:buNone/>
            </a:pPr>
            <a:r>
              <a:rPr lang="en-US" sz="1400" dirty="0">
                <a:solidFill>
                  <a:srgbClr val="5B6478"/>
                </a:solidFill>
              </a:rPr>
              <a:t>Top-up &amp; upsell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Revenue stream terdiversifikasi, dengan profil margin berbeda</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gridCol w="4297680"/>
                <a:gridCol w="31089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Revenue stream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Karakter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Gross margin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566928">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Seat subscription (annual upfront)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Recurring revenue inti, marginal cost rendah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66928">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AI credit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Dijual di atas inference cost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Medium, dijaga lewat per-action pricing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WhatsApp &amp; Email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Pass-through vendor cost + markup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Low – medium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66928">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Onboarding, integration, training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One-time professional services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Top-up &amp; renewal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Expansion revenue dari existing tenant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bl>
          </a:graphicData>
        </a:graphic>
      </p:graphicFrame>
      <p:sp>
        <p:nvSpPr>
          <p:cNvPr id="6" name="Text 3"/>
          <p:cNvSpPr txBox="1"/>
          <p:nvPr/>
        </p:nvSpPr>
        <p:spPr>
          <a:xfrm>
            <a:off x="548640" y="5212080"/>
            <a:ext cx="11064240" cy="45720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Annual upfront billing memperkuat cash flow sejak hari pertama.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Unit economics per tenant: framework siap diisi</a:t>
            </a:r>
            <a:endParaRPr lang="en-US" sz="28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600" i="1" dirty="0">
                <a:solidFill>
                  <a:srgbClr val="5B6478"/>
                </a:solidFill>
              </a:rPr>
              <a:t>Angka belum ditampilkan karena cost aktual belum diukur.</a:t>
            </a:r>
            <a:endParaRPr lang="en-US" sz="1600" dirty="0"/>
          </a:p>
        </p:txBody>
      </p:sp>
      <p:sp>
        <p:nvSpPr>
          <p:cNvPr id="4"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5" name="Text 3"/>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13</a:t>
            </a:r>
            <a:endParaRPr lang="en-US" sz="1000" dirty="0"/>
          </a:p>
        </p:txBody>
      </p:sp>
      <p:sp>
        <p:nvSpPr>
          <p:cNvPr id="6" name="card"/>
          <p:cNvSpPr/>
          <p:nvPr/>
        </p:nvSpPr>
        <p:spPr>
          <a:xfrm>
            <a:off x="548640" y="1645920"/>
            <a:ext cx="6766560" cy="4297680"/>
          </a:xfrm>
          <a:prstGeom prst="roundRect">
            <a:avLst>
              <a:gd name="adj" fmla="val 1702"/>
            </a:avLst>
          </a:prstGeom>
          <a:solidFill>
            <a:srgbClr val="EEF1F7"/>
          </a:solidFill>
          <a:ln w="12700">
            <a:solidFill>
              <a:srgbClr val="EEF1F7"/>
            </a:solidFill>
            <a:prstDash val="solid"/>
          </a:ln>
        </p:spPr>
      </p:sp>
      <p:sp>
        <p:nvSpPr>
          <p:cNvPr id="7" name="Text 5"/>
          <p:cNvSpPr txBox="1"/>
          <p:nvPr/>
        </p:nvSpPr>
        <p:spPr>
          <a:xfrm>
            <a:off x="777240" y="1783080"/>
            <a:ext cx="6309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Annual revenue per tenant</a:t>
            </a:r>
            <a:endParaRPr lang="en-US" sz="1600" dirty="0"/>
          </a:p>
        </p:txBody>
      </p:sp>
      <p:sp>
        <p:nvSpPr>
          <p:cNvPr id="8" name="Text 6"/>
          <p:cNvSpPr txBox="1"/>
          <p:nvPr/>
        </p:nvSpPr>
        <p:spPr>
          <a:xfrm>
            <a:off x="777240" y="2103120"/>
            <a:ext cx="6309360" cy="411480"/>
          </a:xfrm>
          <a:prstGeom prst="rect">
            <a:avLst/>
          </a:prstGeom>
          <a:noFill/>
          <a:ln/>
        </p:spPr>
        <p:txBody>
          <a:bodyPr wrap="square" lIns="0" tIns="0" rIns="0" bIns="0" rtlCol="0" anchor="t"/>
          <a:lstStyle/>
          <a:p>
            <a:pPr indent="0" marL="0">
              <a:buNone/>
            </a:pPr>
            <a:r>
              <a:rPr lang="en-US" sz="1400" dirty="0">
                <a:solidFill>
                  <a:srgbClr val="1B1F2A"/>
                </a:solidFill>
              </a:rPr>
              <a:t>(seat × harga seat) + AI credit + add-on + onboarding</a:t>
            </a:r>
            <a:endParaRPr lang="en-US" sz="1400" dirty="0"/>
          </a:p>
        </p:txBody>
      </p:sp>
      <p:sp>
        <p:nvSpPr>
          <p:cNvPr id="9" name="Text 7"/>
          <p:cNvSpPr txBox="1"/>
          <p:nvPr/>
        </p:nvSpPr>
        <p:spPr>
          <a:xfrm>
            <a:off x="777240" y="2606040"/>
            <a:ext cx="6309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Direct cost (COGS)</a:t>
            </a:r>
            <a:endParaRPr lang="en-US" sz="1600" dirty="0"/>
          </a:p>
        </p:txBody>
      </p:sp>
      <p:sp>
        <p:nvSpPr>
          <p:cNvPr id="10" name="Text 8"/>
          <p:cNvSpPr txBox="1"/>
          <p:nvPr/>
        </p:nvSpPr>
        <p:spPr>
          <a:xfrm>
            <a:off x="777240" y="2926080"/>
            <a:ext cx="6309360" cy="411480"/>
          </a:xfrm>
          <a:prstGeom prst="rect">
            <a:avLst/>
          </a:prstGeom>
          <a:noFill/>
          <a:ln/>
        </p:spPr>
        <p:txBody>
          <a:bodyPr wrap="square" lIns="0" tIns="0" rIns="0" bIns="0" rtlCol="0" anchor="t"/>
          <a:lstStyle/>
          <a:p>
            <a:pPr indent="0" marL="0">
              <a:buNone/>
            </a:pPr>
            <a:r>
              <a:rPr lang="en-US" sz="1400" dirty="0">
                <a:solidFill>
                  <a:srgbClr val="1B1F2A"/>
                </a:solidFill>
              </a:rPr>
              <a:t>infrastruktur tenant + AI inference + vendor messaging + support</a:t>
            </a:r>
            <a:endParaRPr lang="en-US" sz="1400" dirty="0"/>
          </a:p>
        </p:txBody>
      </p:sp>
      <p:sp>
        <p:nvSpPr>
          <p:cNvPr id="11" name="Text 9"/>
          <p:cNvSpPr txBox="1"/>
          <p:nvPr/>
        </p:nvSpPr>
        <p:spPr>
          <a:xfrm>
            <a:off x="777240" y="3429000"/>
            <a:ext cx="6309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Contribution margin</a:t>
            </a:r>
            <a:endParaRPr lang="en-US" sz="1600" dirty="0"/>
          </a:p>
        </p:txBody>
      </p:sp>
      <p:sp>
        <p:nvSpPr>
          <p:cNvPr id="12" name="Text 10"/>
          <p:cNvSpPr txBox="1"/>
          <p:nvPr/>
        </p:nvSpPr>
        <p:spPr>
          <a:xfrm>
            <a:off x="777240" y="3749040"/>
            <a:ext cx="6309360" cy="411480"/>
          </a:xfrm>
          <a:prstGeom prst="rect">
            <a:avLst/>
          </a:prstGeom>
          <a:noFill/>
          <a:ln/>
        </p:spPr>
        <p:txBody>
          <a:bodyPr wrap="square" lIns="0" tIns="0" rIns="0" bIns="0" rtlCol="0" anchor="t"/>
          <a:lstStyle/>
          <a:p>
            <a:pPr indent="0" marL="0">
              <a:buNone/>
            </a:pPr>
            <a:r>
              <a:rPr lang="en-US" sz="1400" dirty="0">
                <a:solidFill>
                  <a:srgbClr val="1B1F2A"/>
                </a:solidFill>
              </a:rPr>
              <a:t>revenue − direct cost</a:t>
            </a:r>
            <a:endParaRPr lang="en-US" sz="1400" dirty="0"/>
          </a:p>
        </p:txBody>
      </p:sp>
      <p:sp>
        <p:nvSpPr>
          <p:cNvPr id="13" name="Text 11"/>
          <p:cNvSpPr txBox="1"/>
          <p:nvPr/>
        </p:nvSpPr>
        <p:spPr>
          <a:xfrm>
            <a:off x="777240" y="4251960"/>
            <a:ext cx="6309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Break-even per tenant</a:t>
            </a:r>
            <a:endParaRPr lang="en-US" sz="1600" dirty="0"/>
          </a:p>
        </p:txBody>
      </p:sp>
      <p:sp>
        <p:nvSpPr>
          <p:cNvPr id="14" name="Text 12"/>
          <p:cNvSpPr txBox="1"/>
          <p:nvPr/>
        </p:nvSpPr>
        <p:spPr>
          <a:xfrm>
            <a:off x="777240" y="4572000"/>
            <a:ext cx="6309360" cy="411480"/>
          </a:xfrm>
          <a:prstGeom prst="rect">
            <a:avLst/>
          </a:prstGeom>
          <a:noFill/>
          <a:ln/>
        </p:spPr>
        <p:txBody>
          <a:bodyPr wrap="square" lIns="0" tIns="0" rIns="0" bIns="0" rtlCol="0" anchor="t"/>
          <a:lstStyle/>
          <a:p>
            <a:pPr indent="0" marL="0">
              <a:buNone/>
            </a:pPr>
            <a:r>
              <a:rPr lang="en-US" sz="1400" dirty="0">
                <a:solidFill>
                  <a:srgbClr val="1B1F2A"/>
                </a:solidFill>
              </a:rPr>
              <a:t>[__ seat] pada harga [Rp __]</a:t>
            </a:r>
            <a:endParaRPr lang="en-US" sz="1400" dirty="0"/>
          </a:p>
        </p:txBody>
      </p:sp>
      <p:sp>
        <p:nvSpPr>
          <p:cNvPr id="15" name="Text 13"/>
          <p:cNvSpPr txBox="1"/>
          <p:nvPr/>
        </p:nvSpPr>
        <p:spPr>
          <a:xfrm>
            <a:off x="777240" y="5074920"/>
            <a:ext cx="6309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CAC payback</a:t>
            </a:r>
            <a:endParaRPr lang="en-US" sz="1600" dirty="0"/>
          </a:p>
        </p:txBody>
      </p:sp>
      <p:sp>
        <p:nvSpPr>
          <p:cNvPr id="16" name="Text 14"/>
          <p:cNvSpPr txBox="1"/>
          <p:nvPr/>
        </p:nvSpPr>
        <p:spPr>
          <a:xfrm>
            <a:off x="777240" y="5394960"/>
            <a:ext cx="6309360" cy="411480"/>
          </a:xfrm>
          <a:prstGeom prst="rect">
            <a:avLst/>
          </a:prstGeom>
          <a:noFill/>
          <a:ln/>
        </p:spPr>
        <p:txBody>
          <a:bodyPr wrap="square" lIns="0" tIns="0" rIns="0" bIns="0" rtlCol="0" anchor="t"/>
          <a:lstStyle/>
          <a:p>
            <a:pPr indent="0" marL="0">
              <a:buNone/>
            </a:pPr>
            <a:r>
              <a:rPr lang="en-US" sz="1400" dirty="0">
                <a:solidFill>
                  <a:srgbClr val="1B1F2A"/>
                </a:solidFill>
              </a:rPr>
              <a:t>CAC [Rp __] ÷ contribution margin per tahun</a:t>
            </a:r>
            <a:endParaRPr lang="en-US" sz="1400" dirty="0"/>
          </a:p>
        </p:txBody>
      </p:sp>
      <p:sp>
        <p:nvSpPr>
          <p:cNvPr id="17" name="Text 15"/>
          <p:cNvSpPr txBox="1"/>
          <p:nvPr/>
        </p:nvSpPr>
        <p:spPr>
          <a:xfrm>
            <a:off x="7772400" y="1645920"/>
            <a:ext cx="3840480" cy="457200"/>
          </a:xfrm>
          <a:prstGeom prst="rect">
            <a:avLst/>
          </a:prstGeom>
          <a:noFill/>
          <a:ln/>
        </p:spPr>
        <p:txBody>
          <a:bodyPr wrap="square" lIns="0" tIns="0" rIns="0" bIns="0" rtlCol="0" anchor="ctr"/>
          <a:lstStyle/>
          <a:p>
            <a:pPr indent="0" marL="0">
              <a:buNone/>
            </a:pPr>
            <a:r>
              <a:rPr lang="en-US" sz="1800" b="1" dirty="0">
                <a:solidFill>
                  <a:srgbClr val="6D4AFF"/>
                </a:solidFill>
                <a:latin typeface="Cambria" pitchFamily="34" charset="0"/>
                <a:ea typeface="Cambria" pitchFamily="34" charset="-122"/>
                <a:cs typeface="Cambria" pitchFamily="34" charset="-120"/>
              </a:rPr>
              <a:t>Yang harus diukur selama Pilot</a:t>
            </a:r>
            <a:endParaRPr lang="en-US" sz="1800" dirty="0"/>
          </a:p>
        </p:txBody>
      </p:sp>
      <p:sp>
        <p:nvSpPr>
          <p:cNvPr id="18" name="Text 16"/>
          <p:cNvSpPr txBox="1"/>
          <p:nvPr/>
        </p:nvSpPr>
        <p:spPr>
          <a:xfrm>
            <a:off x="7772400" y="2286000"/>
            <a:ext cx="3840480" cy="22860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B1F2A"/>
                </a:solidFill>
              </a:rPr>
              <a:t>Inference cost per aksi AI</a:t>
            </a:r>
            <a:endParaRPr lang="en-US" sz="1600" dirty="0"/>
          </a:p>
          <a:p>
            <a:pPr marL="203200" indent="-203200">
              <a:spcAft>
                <a:spcPts val="800"/>
              </a:spcAft>
              <a:buSzPct val="100000"/>
              <a:buChar char="•"/>
            </a:pPr>
            <a:r>
              <a:rPr lang="en-US" sz="1600" dirty="0">
                <a:solidFill>
                  <a:srgbClr val="1B1F2A"/>
                </a:solidFill>
              </a:rPr>
              <a:t>Infrastructure cost per tenant</a:t>
            </a:r>
            <a:endParaRPr lang="en-US" sz="1600" dirty="0"/>
          </a:p>
          <a:p>
            <a:pPr marL="203200" indent="-203200">
              <a:spcAft>
                <a:spcPts val="800"/>
              </a:spcAft>
              <a:buSzPct val="100000"/>
              <a:buChar char="•"/>
            </a:pPr>
            <a:r>
              <a:rPr lang="en-US" sz="1600" dirty="0">
                <a:solidFill>
                  <a:srgbClr val="1B1F2A"/>
                </a:solidFill>
              </a:rPr>
              <a:t>Support cost per tenant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Pasar CRM Indonesia terus bertumbuh</a:t>
            </a:r>
            <a:endParaRPr lang="en-US" sz="28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600" i="1" dirty="0">
                <a:solidFill>
                  <a:srgbClr val="5B6478"/>
                </a:solidFill>
              </a:rPr>
              <a:t>Estimasi riset berbeda signifikan, sehingga kami menggunakan range, bukan satu angka.</a:t>
            </a:r>
            <a:endParaRPr lang="en-US" sz="1600" dirty="0"/>
          </a:p>
        </p:txBody>
      </p:sp>
      <p:sp>
        <p:nvSpPr>
          <p:cNvPr id="4"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5" name="Text 3"/>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14</a:t>
            </a:r>
            <a:endParaRPr lang="en-US" sz="1000" dirty="0"/>
          </a:p>
        </p:txBody>
      </p:sp>
      <p:sp>
        <p:nvSpPr>
          <p:cNvPr id="6" name="card"/>
          <p:cNvSpPr/>
          <p:nvPr/>
        </p:nvSpPr>
        <p:spPr>
          <a:xfrm>
            <a:off x="548640" y="1737360"/>
            <a:ext cx="5440680" cy="2651760"/>
          </a:xfrm>
          <a:prstGeom prst="roundRect">
            <a:avLst>
              <a:gd name="adj" fmla="val 2759"/>
            </a:avLst>
          </a:prstGeom>
          <a:solidFill>
            <a:srgbClr val="EEF1F7"/>
          </a:solidFill>
          <a:ln w="12700">
            <a:solidFill>
              <a:srgbClr val="EEF1F7"/>
            </a:solidFill>
            <a:prstDash val="solid"/>
          </a:ln>
        </p:spPr>
      </p:sp>
      <p:sp>
        <p:nvSpPr>
          <p:cNvPr id="7" name="Text 5"/>
          <p:cNvSpPr txBox="1"/>
          <p:nvPr/>
        </p:nvSpPr>
        <p:spPr>
          <a:xfrm>
            <a:off x="822960" y="1828800"/>
            <a:ext cx="4846320" cy="457200"/>
          </a:xfrm>
          <a:prstGeom prst="rect">
            <a:avLst/>
          </a:prstGeom>
          <a:noFill/>
          <a:ln/>
        </p:spPr>
        <p:txBody>
          <a:bodyPr wrap="square" lIns="0" tIns="0" rIns="0" bIns="0" rtlCol="0" anchor="ctr"/>
          <a:lstStyle/>
          <a:p>
            <a:pPr indent="0" marL="0">
              <a:buNone/>
            </a:pPr>
            <a:r>
              <a:rPr lang="en-US" sz="2000" b="1" dirty="0">
                <a:solidFill>
                  <a:srgbClr val="2A9D8F"/>
                </a:solidFill>
                <a:latin typeface="Cambria" pitchFamily="34" charset="0"/>
                <a:ea typeface="Cambria" pitchFamily="34" charset="-122"/>
                <a:cs typeface="Cambria" pitchFamily="34" charset="-120"/>
              </a:rPr>
              <a:t>Ken Research</a:t>
            </a:r>
            <a:endParaRPr lang="en-US" sz="2000" dirty="0"/>
          </a:p>
        </p:txBody>
      </p:sp>
      <p:sp>
        <p:nvSpPr>
          <p:cNvPr id="8" name="Text 6"/>
          <p:cNvSpPr txBox="1"/>
          <p:nvPr/>
        </p:nvSpPr>
        <p:spPr>
          <a:xfrm>
            <a:off x="822960" y="2377440"/>
            <a:ext cx="2377440" cy="73152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~USD 185 jt</a:t>
            </a:r>
            <a:endParaRPr lang="en-US" sz="2200" dirty="0"/>
          </a:p>
        </p:txBody>
      </p:sp>
      <p:sp>
        <p:nvSpPr>
          <p:cNvPr id="9" name="Text 7"/>
          <p:cNvSpPr txBox="1"/>
          <p:nvPr/>
        </p:nvSpPr>
        <p:spPr>
          <a:xfrm>
            <a:off x="2926080" y="2377440"/>
            <a:ext cx="457200" cy="731520"/>
          </a:xfrm>
          <a:prstGeom prst="rect">
            <a:avLst/>
          </a:prstGeom>
          <a:noFill/>
          <a:ln/>
        </p:spPr>
        <p:txBody>
          <a:bodyPr wrap="square" lIns="0" tIns="0" rIns="0" bIns="0" rtlCol="0" anchor="ctr"/>
          <a:lstStyle/>
          <a:p>
            <a:pPr algn="ctr" indent="0" marL="0">
              <a:buNone/>
            </a:pPr>
            <a:r>
              <a:rPr lang="en-US" sz="1800" dirty="0">
                <a:solidFill>
                  <a:srgbClr val="8D99AE"/>
                </a:solidFill>
              </a:rPr>
              <a:t>►</a:t>
            </a:r>
            <a:endParaRPr lang="en-US" sz="1800" dirty="0"/>
          </a:p>
        </p:txBody>
      </p:sp>
      <p:sp>
        <p:nvSpPr>
          <p:cNvPr id="10" name="Text 8"/>
          <p:cNvSpPr txBox="1"/>
          <p:nvPr/>
        </p:nvSpPr>
        <p:spPr>
          <a:xfrm>
            <a:off x="3383280" y="2377440"/>
            <a:ext cx="2468880" cy="73152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~USD 385 jt</a:t>
            </a:r>
            <a:endParaRPr lang="en-US" sz="2200" dirty="0"/>
          </a:p>
        </p:txBody>
      </p:sp>
      <p:sp>
        <p:nvSpPr>
          <p:cNvPr id="11" name="Text 9"/>
          <p:cNvSpPr txBox="1"/>
          <p:nvPr/>
        </p:nvSpPr>
        <p:spPr>
          <a:xfrm>
            <a:off x="822960" y="3108960"/>
            <a:ext cx="2377440" cy="320040"/>
          </a:xfrm>
          <a:prstGeom prst="rect">
            <a:avLst/>
          </a:prstGeom>
          <a:noFill/>
          <a:ln/>
        </p:spPr>
        <p:txBody>
          <a:bodyPr wrap="square" lIns="0" tIns="0" rIns="0" bIns="0" rtlCol="0" anchor="ctr"/>
          <a:lstStyle/>
          <a:p>
            <a:pPr indent="0" marL="0">
              <a:buNone/>
            </a:pPr>
            <a:r>
              <a:rPr lang="en-US" sz="1400" dirty="0">
                <a:solidFill>
                  <a:srgbClr val="5B6478"/>
                </a:solidFill>
              </a:rPr>
              <a:t>2025</a:t>
            </a:r>
            <a:endParaRPr lang="en-US" sz="1400" dirty="0"/>
          </a:p>
        </p:txBody>
      </p:sp>
      <p:sp>
        <p:nvSpPr>
          <p:cNvPr id="12" name="Text 10"/>
          <p:cNvSpPr txBox="1"/>
          <p:nvPr/>
        </p:nvSpPr>
        <p:spPr>
          <a:xfrm>
            <a:off x="3383280" y="3108960"/>
            <a:ext cx="2468880" cy="320040"/>
          </a:xfrm>
          <a:prstGeom prst="rect">
            <a:avLst/>
          </a:prstGeom>
          <a:noFill/>
          <a:ln/>
        </p:spPr>
        <p:txBody>
          <a:bodyPr wrap="square" lIns="0" tIns="0" rIns="0" bIns="0" rtlCol="0" anchor="ctr"/>
          <a:lstStyle/>
          <a:p>
            <a:pPr indent="0" marL="0">
              <a:buNone/>
            </a:pPr>
            <a:r>
              <a:rPr lang="en-US" sz="1400" dirty="0">
                <a:solidFill>
                  <a:srgbClr val="5B6478"/>
                </a:solidFill>
              </a:rPr>
              <a:t>2032</a:t>
            </a:r>
            <a:endParaRPr lang="en-US" sz="1400" dirty="0"/>
          </a:p>
        </p:txBody>
      </p:sp>
      <p:sp>
        <p:nvSpPr>
          <p:cNvPr id="13" name="Text 11"/>
          <p:cNvSpPr txBox="1"/>
          <p:nvPr/>
        </p:nvSpPr>
        <p:spPr>
          <a:xfrm>
            <a:off x="822960" y="3657600"/>
            <a:ext cx="4846320" cy="457200"/>
          </a:xfrm>
          <a:prstGeom prst="rect">
            <a:avLst/>
          </a:prstGeom>
          <a:noFill/>
          <a:ln/>
        </p:spPr>
        <p:txBody>
          <a:bodyPr wrap="square" lIns="0" tIns="0" rIns="0" bIns="0" rtlCol="0" anchor="ctr"/>
          <a:lstStyle/>
          <a:p>
            <a:pPr indent="0" marL="0">
              <a:buNone/>
            </a:pPr>
            <a:r>
              <a:rPr lang="en-US" sz="1600" b="1" dirty="0">
                <a:solidFill>
                  <a:srgbClr val="2A9D8F"/>
                </a:solidFill>
              </a:rPr>
              <a:t>CAGR ~11%</a:t>
            </a:r>
            <a:endParaRPr lang="en-US" sz="1600" dirty="0"/>
          </a:p>
        </p:txBody>
      </p:sp>
      <p:sp>
        <p:nvSpPr>
          <p:cNvPr id="14" name="card"/>
          <p:cNvSpPr/>
          <p:nvPr/>
        </p:nvSpPr>
        <p:spPr>
          <a:xfrm>
            <a:off x="6172200" y="1737360"/>
            <a:ext cx="5440680" cy="2651760"/>
          </a:xfrm>
          <a:prstGeom prst="roundRect">
            <a:avLst>
              <a:gd name="adj" fmla="val 2759"/>
            </a:avLst>
          </a:prstGeom>
          <a:solidFill>
            <a:srgbClr val="EEF1F7"/>
          </a:solidFill>
          <a:ln w="12700">
            <a:solidFill>
              <a:srgbClr val="EEF1F7"/>
            </a:solidFill>
            <a:prstDash val="solid"/>
          </a:ln>
        </p:spPr>
      </p:sp>
      <p:sp>
        <p:nvSpPr>
          <p:cNvPr id="15" name="Text 13"/>
          <p:cNvSpPr txBox="1"/>
          <p:nvPr/>
        </p:nvSpPr>
        <p:spPr>
          <a:xfrm>
            <a:off x="6446520" y="1828800"/>
            <a:ext cx="4846320" cy="457200"/>
          </a:xfrm>
          <a:prstGeom prst="rect">
            <a:avLst/>
          </a:prstGeom>
          <a:noFill/>
          <a:ln/>
        </p:spPr>
        <p:txBody>
          <a:bodyPr wrap="square" lIns="0" tIns="0" rIns="0" bIns="0" rtlCol="0" anchor="ctr"/>
          <a:lstStyle/>
          <a:p>
            <a:pPr indent="0" marL="0">
              <a:buNone/>
            </a:pPr>
            <a:r>
              <a:rPr lang="en-US" sz="2000" b="1" dirty="0">
                <a:solidFill>
                  <a:srgbClr val="6D4AFF"/>
                </a:solidFill>
                <a:latin typeface="Cambria" pitchFamily="34" charset="0"/>
                <a:ea typeface="Cambria" pitchFamily="34" charset="-122"/>
                <a:cs typeface="Cambria" pitchFamily="34" charset="-120"/>
              </a:rPr>
              <a:t>Mordor Intelligence</a:t>
            </a:r>
            <a:endParaRPr lang="en-US" sz="2000" dirty="0"/>
          </a:p>
        </p:txBody>
      </p:sp>
      <p:sp>
        <p:nvSpPr>
          <p:cNvPr id="16" name="Text 14"/>
          <p:cNvSpPr txBox="1"/>
          <p:nvPr/>
        </p:nvSpPr>
        <p:spPr>
          <a:xfrm>
            <a:off x="6446520" y="2377440"/>
            <a:ext cx="2377440" cy="73152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~USD 1,40 miliar</a:t>
            </a:r>
            <a:endParaRPr lang="en-US" sz="2200" dirty="0"/>
          </a:p>
        </p:txBody>
      </p:sp>
      <p:sp>
        <p:nvSpPr>
          <p:cNvPr id="17" name="Text 15"/>
          <p:cNvSpPr txBox="1"/>
          <p:nvPr/>
        </p:nvSpPr>
        <p:spPr>
          <a:xfrm>
            <a:off x="8549640" y="2377440"/>
            <a:ext cx="457200" cy="731520"/>
          </a:xfrm>
          <a:prstGeom prst="rect">
            <a:avLst/>
          </a:prstGeom>
          <a:noFill/>
          <a:ln/>
        </p:spPr>
        <p:txBody>
          <a:bodyPr wrap="square" lIns="0" tIns="0" rIns="0" bIns="0" rtlCol="0" anchor="ctr"/>
          <a:lstStyle/>
          <a:p>
            <a:pPr algn="ctr" indent="0" marL="0">
              <a:buNone/>
            </a:pPr>
            <a:r>
              <a:rPr lang="en-US" sz="1800" dirty="0">
                <a:solidFill>
                  <a:srgbClr val="8D99AE"/>
                </a:solidFill>
              </a:rPr>
              <a:t>►</a:t>
            </a:r>
            <a:endParaRPr lang="en-US" sz="1800" dirty="0"/>
          </a:p>
        </p:txBody>
      </p:sp>
      <p:sp>
        <p:nvSpPr>
          <p:cNvPr id="18" name="Text 16"/>
          <p:cNvSpPr txBox="1"/>
          <p:nvPr/>
        </p:nvSpPr>
        <p:spPr>
          <a:xfrm>
            <a:off x="9006840" y="2377440"/>
            <a:ext cx="2468880" cy="73152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~USD 2,60 miliar</a:t>
            </a:r>
            <a:endParaRPr lang="en-US" sz="2200" dirty="0"/>
          </a:p>
        </p:txBody>
      </p:sp>
      <p:sp>
        <p:nvSpPr>
          <p:cNvPr id="19" name="Text 17"/>
          <p:cNvSpPr txBox="1"/>
          <p:nvPr/>
        </p:nvSpPr>
        <p:spPr>
          <a:xfrm>
            <a:off x="6446520" y="3108960"/>
            <a:ext cx="2377440" cy="320040"/>
          </a:xfrm>
          <a:prstGeom prst="rect">
            <a:avLst/>
          </a:prstGeom>
          <a:noFill/>
          <a:ln/>
        </p:spPr>
        <p:txBody>
          <a:bodyPr wrap="square" lIns="0" tIns="0" rIns="0" bIns="0" rtlCol="0" anchor="ctr"/>
          <a:lstStyle/>
          <a:p>
            <a:pPr indent="0" marL="0">
              <a:buNone/>
            </a:pPr>
            <a:r>
              <a:rPr lang="en-US" sz="1400" dirty="0">
                <a:solidFill>
                  <a:srgbClr val="5B6478"/>
                </a:solidFill>
              </a:rPr>
              <a:t>2024</a:t>
            </a:r>
            <a:endParaRPr lang="en-US" sz="1400" dirty="0"/>
          </a:p>
        </p:txBody>
      </p:sp>
      <p:sp>
        <p:nvSpPr>
          <p:cNvPr id="20" name="Text 18"/>
          <p:cNvSpPr txBox="1"/>
          <p:nvPr/>
        </p:nvSpPr>
        <p:spPr>
          <a:xfrm>
            <a:off x="9006840" y="3108960"/>
            <a:ext cx="2468880" cy="320040"/>
          </a:xfrm>
          <a:prstGeom prst="rect">
            <a:avLst/>
          </a:prstGeom>
          <a:noFill/>
          <a:ln/>
        </p:spPr>
        <p:txBody>
          <a:bodyPr wrap="square" lIns="0" tIns="0" rIns="0" bIns="0" rtlCol="0" anchor="ctr"/>
          <a:lstStyle/>
          <a:p>
            <a:pPr indent="0" marL="0">
              <a:buNone/>
            </a:pPr>
            <a:r>
              <a:rPr lang="en-US" sz="1400" dirty="0">
                <a:solidFill>
                  <a:srgbClr val="5B6478"/>
                </a:solidFill>
              </a:rPr>
              <a:t>2029</a:t>
            </a:r>
            <a:endParaRPr lang="en-US" sz="1400" dirty="0"/>
          </a:p>
        </p:txBody>
      </p:sp>
      <p:sp>
        <p:nvSpPr>
          <p:cNvPr id="21" name="Text 19"/>
          <p:cNvSpPr txBox="1"/>
          <p:nvPr/>
        </p:nvSpPr>
        <p:spPr>
          <a:xfrm>
            <a:off x="6446520" y="3657600"/>
            <a:ext cx="4846320" cy="457200"/>
          </a:xfrm>
          <a:prstGeom prst="rect">
            <a:avLst/>
          </a:prstGeom>
          <a:noFill/>
          <a:ln/>
        </p:spPr>
        <p:txBody>
          <a:bodyPr wrap="square" lIns="0" tIns="0" rIns="0" bIns="0" rtlCol="0" anchor="ctr"/>
          <a:lstStyle/>
          <a:p>
            <a:pPr indent="0" marL="0">
              <a:buNone/>
            </a:pPr>
            <a:r>
              <a:rPr lang="en-US" sz="1600" b="1" dirty="0">
                <a:solidFill>
                  <a:srgbClr val="6D4AFF"/>
                </a:solidFill>
              </a:rPr>
              <a:t>CAGR ~5,3%</a:t>
            </a:r>
            <a:endParaRPr lang="en-US" sz="1600" dirty="0"/>
          </a:p>
        </p:txBody>
      </p:sp>
      <p:sp>
        <p:nvSpPr>
          <p:cNvPr id="22" name="Text 20"/>
          <p:cNvSpPr txBox="1"/>
          <p:nvPr/>
        </p:nvSpPr>
        <p:spPr>
          <a:xfrm>
            <a:off x="548640" y="4572000"/>
            <a:ext cx="11064240"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B1F2A"/>
                </a:solidFill>
              </a:rPr>
              <a:t>Selisih base ~7x antar sumber, akibat perbedaan definisi pasar</a:t>
            </a:r>
            <a:endParaRPr lang="en-US" sz="1600" dirty="0"/>
          </a:p>
          <a:p>
            <a:pPr marL="203200" indent="-203200">
              <a:spcAft>
                <a:spcPts val="800"/>
              </a:spcAft>
              <a:buSzPct val="100000"/>
              <a:buChar char="•"/>
            </a:pPr>
            <a:r>
              <a:rPr lang="en-US" sz="1600" dirty="0">
                <a:solidFill>
                  <a:srgbClr val="1B1F2A"/>
                </a:solidFill>
              </a:rPr>
              <a:t>Mordor: segmen UKM ~57% pasar, cloud deployment ~61% (2025)</a:t>
            </a:r>
            <a:endParaRPr lang="en-US" sz="1600" dirty="0"/>
          </a:p>
          <a:p>
            <a:pPr marL="203200" indent="-203200">
              <a:spcAft>
                <a:spcPts val="800"/>
              </a:spcAft>
              <a:buSzPct val="100000"/>
              <a:buChar char="•"/>
            </a:pPr>
            <a:r>
              <a:rPr lang="en-US" sz="1600" dirty="0">
                <a:solidFill>
                  <a:srgbClr val="1B1F2A"/>
                </a:solidFill>
              </a:rPr>
              <a:t>Porsi segmen perusahaan menengah-besar dari angka ini belum terukur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Competitive landscape berdasarkan tipe pemain</a:t>
            </a:r>
            <a:endParaRPr lang="en-US" sz="28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600" i="1" dirty="0">
                <a:solidFill>
                  <a:srgbClr val="5B6478"/>
                </a:solidFill>
              </a:rPr>
              <a:t>Data market share per vendor di Indonesia tidak tersedia secara publik.</a:t>
            </a:r>
            <a:endParaRPr lang="en-US" sz="1600" dirty="0"/>
          </a:p>
        </p:txBody>
      </p:sp>
      <p:sp>
        <p:nvSpPr>
          <p:cNvPr id="4"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5" name="Text 3"/>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011680"/>
                <a:gridCol w="2743200"/>
                <a:gridCol w="2926080"/>
                <a:gridCol w="3383280"/>
              </a:tblGrid>
              <a:tr h="6858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Segmen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Pemain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Gap untuk target market kita</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6858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Global heavyweight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Salesforce, Microsoft Dynamics, Oracle, SAP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Fitur dan ecosystem paling lengkap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Mahal, implementasi berat, customization menjadi project besar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6858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Global mid-market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HubSpot, Zoho, Pipedrive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Mudah digunakan, ecosystem besar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Pricing dalam USD, local support dan integrasi lokal terbatas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Lokal, chat-first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Mekari Qontak</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Omnichannel, WhatsApp, pricing dalam Rupiah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Berangkat dari conversation, depth sales process bervariasi</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68580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Lokal, CRM</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Barantum, dan lainnya</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Kedekatan dengan pasar lokal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Skala dan ecosystem terbatas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400" dirty="0">
                <a:solidFill>
                  <a:srgbClr val="5B6478"/>
                </a:solidFill>
              </a:rPr>
              <a:t>Konteks: secara global Salesforce memimpin (~17–20%), HubSpot dan Zoho ~3–5% (estimasi). Qontak mulai IDR 400.000/user/bulan (klaim vendor).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White space: di antara "terlalu berat" dan "terlalu ringan"</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16</a:t>
            </a:r>
            <a:endParaRPr lang="en-US" sz="1000" dirty="0"/>
          </a:p>
        </p:txBody>
      </p:sp>
      <p:sp>
        <p:nvSpPr>
          <p:cNvPr id="5" name="card"/>
          <p:cNvSpPr/>
          <p:nvPr/>
        </p:nvSpPr>
        <p:spPr>
          <a:xfrm>
            <a:off x="548640" y="1371600"/>
            <a:ext cx="5440680" cy="2194560"/>
          </a:xfrm>
          <a:prstGeom prst="roundRect">
            <a:avLst>
              <a:gd name="adj" fmla="val 3333"/>
            </a:avLst>
          </a:prstGeom>
          <a:solidFill>
            <a:srgbClr val="EEF1F7"/>
          </a:solidFill>
          <a:ln w="12700">
            <a:solidFill>
              <a:srgbClr val="EEF1F7"/>
            </a:solidFill>
            <a:prstDash val="solid"/>
          </a:ln>
        </p:spPr>
      </p:sp>
      <p:sp>
        <p:nvSpPr>
          <p:cNvPr id="6" name="Text 4"/>
          <p:cNvSpPr txBox="1"/>
          <p:nvPr/>
        </p:nvSpPr>
        <p:spPr>
          <a:xfrm>
            <a:off x="868680" y="1645920"/>
            <a:ext cx="484632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Measurable sales process</a:t>
            </a:r>
            <a:endParaRPr lang="en-US" sz="2000" dirty="0"/>
          </a:p>
        </p:txBody>
      </p:sp>
      <p:sp>
        <p:nvSpPr>
          <p:cNvPr id="7" name="Text 5"/>
          <p:cNvSpPr txBox="1"/>
          <p:nvPr/>
        </p:nvSpPr>
        <p:spPr>
          <a:xfrm>
            <a:off x="868680" y="2286000"/>
            <a:ext cx="4846320" cy="1097280"/>
          </a:xfrm>
          <a:prstGeom prst="rect">
            <a:avLst/>
          </a:prstGeom>
          <a:noFill/>
          <a:ln/>
        </p:spPr>
        <p:txBody>
          <a:bodyPr wrap="square" lIns="0" tIns="0" rIns="0" bIns="0" rtlCol="0" anchor="t"/>
          <a:lstStyle/>
          <a:p>
            <a:pPr indent="0" marL="0">
              <a:buNone/>
            </a:pPr>
            <a:r>
              <a:rPr lang="en-US" sz="1700" dirty="0">
                <a:solidFill>
                  <a:srgbClr val="1B1F2A"/>
                </a:solidFill>
              </a:rPr>
              <a:t>Quota, forecast, dan win/loss analysis, bukan sekadar shared inbox.</a:t>
            </a:r>
            <a:endParaRPr lang="en-US" sz="1700" dirty="0"/>
          </a:p>
        </p:txBody>
      </p:sp>
      <p:sp>
        <p:nvSpPr>
          <p:cNvPr id="8" name="card"/>
          <p:cNvSpPr/>
          <p:nvPr/>
        </p:nvSpPr>
        <p:spPr>
          <a:xfrm>
            <a:off x="6172200" y="1371600"/>
            <a:ext cx="5440680" cy="2194560"/>
          </a:xfrm>
          <a:prstGeom prst="roundRect">
            <a:avLst>
              <a:gd name="adj" fmla="val 3333"/>
            </a:avLst>
          </a:prstGeom>
          <a:solidFill>
            <a:srgbClr val="EEF1F7"/>
          </a:solidFill>
          <a:ln w="12700">
            <a:solidFill>
              <a:srgbClr val="EEF1F7"/>
            </a:solidFill>
            <a:prstDash val="solid"/>
          </a:ln>
        </p:spPr>
      </p:sp>
      <p:sp>
        <p:nvSpPr>
          <p:cNvPr id="9" name="Text 7"/>
          <p:cNvSpPr txBox="1"/>
          <p:nvPr/>
        </p:nvSpPr>
        <p:spPr>
          <a:xfrm>
            <a:off x="6492240" y="1645920"/>
            <a:ext cx="484632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Integration-first</a:t>
            </a:r>
            <a:endParaRPr lang="en-US" sz="2000" dirty="0"/>
          </a:p>
        </p:txBody>
      </p:sp>
      <p:sp>
        <p:nvSpPr>
          <p:cNvPr id="10" name="Text 8"/>
          <p:cNvSpPr txBox="1"/>
          <p:nvPr/>
        </p:nvSpPr>
        <p:spPr>
          <a:xfrm>
            <a:off x="6492240" y="2286000"/>
            <a:ext cx="4846320" cy="1097280"/>
          </a:xfrm>
          <a:prstGeom prst="rect">
            <a:avLst/>
          </a:prstGeom>
          <a:noFill/>
          <a:ln/>
        </p:spPr>
        <p:txBody>
          <a:bodyPr wrap="square" lIns="0" tIns="0" rIns="0" bIns="0" rtlCol="0" anchor="t"/>
          <a:lstStyle/>
          <a:p>
            <a:pPr indent="0" marL="0">
              <a:buNone/>
            </a:pPr>
            <a:r>
              <a:rPr lang="en-US" sz="1700" dirty="0">
                <a:solidFill>
                  <a:srgbClr val="1B1F2A"/>
                </a:solidFill>
              </a:rPr>
              <a:t>Terhubung ke ERP dan sistem internal tanpa project customization.</a:t>
            </a:r>
            <a:endParaRPr lang="en-US" sz="1700" dirty="0"/>
          </a:p>
        </p:txBody>
      </p:sp>
      <p:sp>
        <p:nvSpPr>
          <p:cNvPr id="11" name="card"/>
          <p:cNvSpPr/>
          <p:nvPr/>
        </p:nvSpPr>
        <p:spPr>
          <a:xfrm>
            <a:off x="548640" y="3749040"/>
            <a:ext cx="5440680" cy="2194560"/>
          </a:xfrm>
          <a:prstGeom prst="roundRect">
            <a:avLst>
              <a:gd name="adj" fmla="val 3333"/>
            </a:avLst>
          </a:prstGeom>
          <a:solidFill>
            <a:srgbClr val="EEF1F7"/>
          </a:solidFill>
          <a:ln w="12700">
            <a:solidFill>
              <a:srgbClr val="EEF1F7"/>
            </a:solidFill>
            <a:prstDash val="solid"/>
          </a:ln>
        </p:spPr>
      </p:sp>
      <p:sp>
        <p:nvSpPr>
          <p:cNvPr id="12" name="Text 10"/>
          <p:cNvSpPr txBox="1"/>
          <p:nvPr/>
        </p:nvSpPr>
        <p:spPr>
          <a:xfrm>
            <a:off x="868680" y="4023360"/>
            <a:ext cx="484632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Accountable AI</a:t>
            </a:r>
            <a:endParaRPr lang="en-US" sz="2000" dirty="0"/>
          </a:p>
        </p:txBody>
      </p:sp>
      <p:sp>
        <p:nvSpPr>
          <p:cNvPr id="13" name="Text 11"/>
          <p:cNvSpPr txBox="1"/>
          <p:nvPr/>
        </p:nvSpPr>
        <p:spPr>
          <a:xfrm>
            <a:off x="868680" y="4663440"/>
            <a:ext cx="4846320" cy="1097280"/>
          </a:xfrm>
          <a:prstGeom prst="rect">
            <a:avLst/>
          </a:prstGeom>
          <a:noFill/>
          <a:ln/>
        </p:spPr>
        <p:txBody>
          <a:bodyPr wrap="square" lIns="0" tIns="0" rIns="0" bIns="0" rtlCol="0" anchor="t"/>
          <a:lstStyle/>
          <a:p>
            <a:pPr indent="0" marL="0">
              <a:buNone/>
            </a:pPr>
            <a:r>
              <a:rPr lang="en-US" sz="1700" dirty="0">
                <a:solidFill>
                  <a:srgbClr val="1B1F2A"/>
                </a:solidFill>
              </a:rPr>
              <a:t>Berbasis consent, sumber jawaban terkontrol, dan biaya transparan.</a:t>
            </a:r>
            <a:endParaRPr lang="en-US" sz="1700" dirty="0"/>
          </a:p>
        </p:txBody>
      </p:sp>
      <p:sp>
        <p:nvSpPr>
          <p:cNvPr id="14" name="card"/>
          <p:cNvSpPr/>
          <p:nvPr/>
        </p:nvSpPr>
        <p:spPr>
          <a:xfrm>
            <a:off x="6172200" y="3749040"/>
            <a:ext cx="5440680" cy="2194560"/>
          </a:xfrm>
          <a:prstGeom prst="roundRect">
            <a:avLst>
              <a:gd name="adj" fmla="val 3333"/>
            </a:avLst>
          </a:prstGeom>
          <a:solidFill>
            <a:srgbClr val="EEF1F7"/>
          </a:solidFill>
          <a:ln w="12700">
            <a:solidFill>
              <a:srgbClr val="EEF1F7"/>
            </a:solidFill>
            <a:prstDash val="solid"/>
          </a:ln>
        </p:spPr>
      </p:sp>
      <p:sp>
        <p:nvSpPr>
          <p:cNvPr id="15" name="Text 13"/>
          <p:cNvSpPr txBox="1"/>
          <p:nvPr/>
        </p:nvSpPr>
        <p:spPr>
          <a:xfrm>
            <a:off x="6492240" y="4023360"/>
            <a:ext cx="484632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Local partner</a:t>
            </a:r>
            <a:endParaRPr lang="en-US" sz="2000" dirty="0"/>
          </a:p>
        </p:txBody>
      </p:sp>
      <p:sp>
        <p:nvSpPr>
          <p:cNvPr id="16" name="Text 14"/>
          <p:cNvSpPr txBox="1"/>
          <p:nvPr/>
        </p:nvSpPr>
        <p:spPr>
          <a:xfrm>
            <a:off x="6492240" y="4663440"/>
            <a:ext cx="4846320" cy="1097280"/>
          </a:xfrm>
          <a:prstGeom prst="rect">
            <a:avLst/>
          </a:prstGeom>
          <a:noFill/>
          <a:ln/>
        </p:spPr>
        <p:txBody>
          <a:bodyPr wrap="square" lIns="0" tIns="0" rIns="0" bIns="0" rtlCol="0" anchor="t"/>
          <a:lstStyle/>
          <a:p>
            <a:pPr indent="0" marL="0">
              <a:buNone/>
            </a:pPr>
            <a:r>
              <a:rPr lang="en-US" sz="1700" dirty="0">
                <a:solidFill>
                  <a:srgbClr val="1B1F2A"/>
                </a:solidFill>
              </a:rPr>
              <a:t>Implementasi, support, dan produk dalam Bahasa Indonesia.</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Positioning: process-first, configurable, integration-first</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17</a:t>
            </a:r>
            <a:endParaRPr lang="en-US" sz="1000" dirty="0"/>
          </a:p>
        </p:txBody>
      </p:sp>
      <p:sp>
        <p:nvSpPr>
          <p:cNvPr id="5" name="Text 3"/>
          <p:cNvSpPr txBox="1"/>
          <p:nvPr/>
        </p:nvSpPr>
        <p:spPr>
          <a:xfrm>
            <a:off x="548640" y="1280160"/>
            <a:ext cx="4754880" cy="210312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Sales CRM untuk perusahaan Indonesia yang menginginkan sales discipline kelas korporasi, terintegrasi ke sistem mereka sendiri, tanpa project customization berbulan-bulan.</a:t>
            </a:r>
            <a:endParaRPr lang="en-US" sz="1900" dirty="0"/>
          </a:p>
        </p:txBody>
      </p:sp>
      <p:sp>
        <p:nvSpPr>
          <p:cNvPr id="6" name="Text 4"/>
          <p:cNvSpPr txBox="1"/>
          <p:nvPr/>
        </p:nvSpPr>
        <p:spPr>
          <a:xfrm>
            <a:off x="548640" y="3566160"/>
            <a:ext cx="4754880" cy="365760"/>
          </a:xfrm>
          <a:prstGeom prst="rect">
            <a:avLst/>
          </a:prstGeom>
          <a:noFill/>
          <a:ln/>
        </p:spPr>
        <p:txBody>
          <a:bodyPr wrap="square" lIns="0" tIns="0" rIns="0" bIns="0" rtlCol="0" anchor="ctr"/>
          <a:lstStyle/>
          <a:p>
            <a:pPr indent="0" marL="0">
              <a:buNone/>
            </a:pPr>
            <a:r>
              <a:rPr lang="en-US" sz="1500" b="1" dirty="0">
                <a:solidFill>
                  <a:srgbClr val="6D4AFF"/>
                </a:solidFill>
              </a:rPr>
              <a:t>Tiga value proposition yang kami buktikan di demo</a:t>
            </a:r>
            <a:endParaRPr lang="en-US" sz="1500" dirty="0"/>
          </a:p>
        </p:txBody>
      </p:sp>
      <p:sp>
        <p:nvSpPr>
          <p:cNvPr id="7" name="Text 5"/>
          <p:cNvSpPr txBox="1"/>
          <p:nvPr/>
        </p:nvSpPr>
        <p:spPr>
          <a:xfrm>
            <a:off x="548640" y="3977640"/>
            <a:ext cx="4754880" cy="2286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1F2A"/>
                </a:solidFill>
              </a:rPr>
              <a:t>End-to-end flow dari lead masuk hingga Closed-Won</a:t>
            </a:r>
            <a:endParaRPr lang="en-US" sz="1500" dirty="0"/>
          </a:p>
          <a:p>
            <a:pPr marL="203200" indent="-203200">
              <a:spcAft>
                <a:spcPts val="800"/>
              </a:spcAft>
              <a:buSzPct val="100000"/>
              <a:buChar char="•"/>
            </a:pPr>
            <a:r>
              <a:rPr lang="en-US" sz="1500" dirty="0">
                <a:solidFill>
                  <a:srgbClr val="1B1F2A"/>
                </a:solidFill>
              </a:rPr>
              <a:t>Admin klien mengubah pipeline dan rule tanpa developer</a:t>
            </a:r>
            <a:endParaRPr lang="en-US" sz="1500" dirty="0"/>
          </a:p>
          <a:p>
            <a:pPr marL="203200" indent="-203200">
              <a:spcAft>
                <a:spcPts val="800"/>
              </a:spcAft>
              <a:buSzPct val="100000"/>
              <a:buChar char="•"/>
            </a:pPr>
            <a:r>
              <a:rPr lang="en-US" sz="1500" dirty="0">
                <a:solidFill>
                  <a:srgbClr val="1B1F2A"/>
                </a:solidFill>
              </a:rPr>
              <a:t>Data deal mengalir ke sistem klien via webhook</a:t>
            </a:r>
            <a:endParaRPr lang="en-US" sz="1500" dirty="0"/>
          </a:p>
        </p:txBody>
      </p:sp>
      <p:sp>
        <p:nvSpPr>
          <p:cNvPr id="8" name="card"/>
          <p:cNvSpPr/>
          <p:nvPr/>
        </p:nvSpPr>
        <p:spPr>
          <a:xfrm>
            <a:off x="5760720" y="1280160"/>
            <a:ext cx="5852160" cy="4846320"/>
          </a:xfrm>
          <a:prstGeom prst="roundRect">
            <a:avLst>
              <a:gd name="adj" fmla="val 1509"/>
            </a:avLst>
          </a:prstGeom>
          <a:solidFill>
            <a:srgbClr val="EEF1F7"/>
          </a:solidFill>
          <a:ln w="12700">
            <a:solidFill>
              <a:srgbClr val="EEF1F7"/>
            </a:solidFill>
            <a:prstDash val="solid"/>
          </a:ln>
        </p:spPr>
      </p:sp>
      <p:sp>
        <p:nvSpPr>
          <p:cNvPr id="9" name="Shape 7"/>
          <p:cNvSpPr/>
          <p:nvPr/>
        </p:nvSpPr>
        <p:spPr>
          <a:xfrm>
            <a:off x="8686800" y="1554480"/>
            <a:ext cx="0" cy="4297680"/>
          </a:xfrm>
          <a:prstGeom prst="line">
            <a:avLst/>
          </a:prstGeom>
          <a:noFill/>
          <a:ln w="12700">
            <a:solidFill>
              <a:srgbClr val="8D99AE"/>
            </a:solidFill>
            <a:prstDash val="solid"/>
          </a:ln>
        </p:spPr>
      </p:sp>
      <p:sp>
        <p:nvSpPr>
          <p:cNvPr id="10" name="Shape 8"/>
          <p:cNvSpPr/>
          <p:nvPr/>
        </p:nvSpPr>
        <p:spPr>
          <a:xfrm>
            <a:off x="6035040" y="3703320"/>
            <a:ext cx="5303520" cy="0"/>
          </a:xfrm>
          <a:prstGeom prst="line">
            <a:avLst/>
          </a:prstGeom>
          <a:noFill/>
          <a:ln w="12700">
            <a:solidFill>
              <a:srgbClr val="8D99AE"/>
            </a:solidFill>
            <a:prstDash val="solid"/>
          </a:ln>
        </p:spPr>
      </p:sp>
      <p:sp>
        <p:nvSpPr>
          <p:cNvPr id="11" name="Text 9"/>
          <p:cNvSpPr txBox="1"/>
          <p:nvPr/>
        </p:nvSpPr>
        <p:spPr>
          <a:xfrm>
            <a:off x="5897880" y="5715000"/>
            <a:ext cx="1828800" cy="274320"/>
          </a:xfrm>
          <a:prstGeom prst="rect">
            <a:avLst/>
          </a:prstGeom>
          <a:noFill/>
          <a:ln/>
        </p:spPr>
        <p:txBody>
          <a:bodyPr wrap="square" lIns="0" tIns="0" rIns="0" bIns="0" rtlCol="0" anchor="ctr"/>
          <a:lstStyle/>
          <a:p>
            <a:pPr indent="0" marL="0">
              <a:buNone/>
            </a:pPr>
            <a:r>
              <a:rPr lang="en-US" sz="1200" dirty="0">
                <a:solidFill>
                  <a:srgbClr val="5B6478"/>
                </a:solidFill>
              </a:rPr>
              <a:t>Chat-first</a:t>
            </a:r>
            <a:endParaRPr lang="en-US" sz="1200" dirty="0"/>
          </a:p>
        </p:txBody>
      </p:sp>
      <p:sp>
        <p:nvSpPr>
          <p:cNvPr id="12" name="Text 10"/>
          <p:cNvSpPr txBox="1"/>
          <p:nvPr/>
        </p:nvSpPr>
        <p:spPr>
          <a:xfrm>
            <a:off x="9646920" y="5715000"/>
            <a:ext cx="1828800" cy="274320"/>
          </a:xfrm>
          <a:prstGeom prst="rect">
            <a:avLst/>
          </a:prstGeom>
          <a:noFill/>
          <a:ln/>
        </p:spPr>
        <p:txBody>
          <a:bodyPr wrap="square" lIns="0" tIns="0" rIns="0" bIns="0" rtlCol="0" anchor="ctr"/>
          <a:lstStyle/>
          <a:p>
            <a:pPr algn="r" indent="0" marL="0">
              <a:buNone/>
            </a:pPr>
            <a:r>
              <a:rPr lang="en-US" sz="1200" dirty="0">
                <a:solidFill>
                  <a:srgbClr val="5B6478"/>
                </a:solidFill>
              </a:rPr>
              <a:t>Process-first</a:t>
            </a:r>
            <a:endParaRPr lang="en-US" sz="1200" dirty="0"/>
          </a:p>
        </p:txBody>
      </p:sp>
      <p:sp>
        <p:nvSpPr>
          <p:cNvPr id="13" name="Text 11"/>
          <p:cNvSpPr txBox="1"/>
          <p:nvPr/>
        </p:nvSpPr>
        <p:spPr>
          <a:xfrm>
            <a:off x="5897880" y="1371600"/>
            <a:ext cx="2743200" cy="274320"/>
          </a:xfrm>
          <a:prstGeom prst="rect">
            <a:avLst/>
          </a:prstGeom>
          <a:noFill/>
          <a:ln/>
        </p:spPr>
        <p:txBody>
          <a:bodyPr wrap="square" lIns="0" tIns="0" rIns="0" bIns="0" rtlCol="0" anchor="ctr"/>
          <a:lstStyle/>
          <a:p>
            <a:pPr indent="0" marL="0">
              <a:buNone/>
            </a:pPr>
            <a:r>
              <a:rPr lang="en-US" sz="1200" dirty="0">
                <a:solidFill>
                  <a:srgbClr val="5B6478"/>
                </a:solidFill>
              </a:rPr>
              <a:t>Flexible (configuration)</a:t>
            </a:r>
            <a:endParaRPr lang="en-US" sz="1200" dirty="0"/>
          </a:p>
        </p:txBody>
      </p:sp>
      <p:sp>
        <p:nvSpPr>
          <p:cNvPr id="14" name="Text 12"/>
          <p:cNvSpPr txBox="1"/>
          <p:nvPr/>
        </p:nvSpPr>
        <p:spPr>
          <a:xfrm>
            <a:off x="5897880" y="5394960"/>
            <a:ext cx="2743200" cy="274320"/>
          </a:xfrm>
          <a:prstGeom prst="rect">
            <a:avLst/>
          </a:prstGeom>
          <a:noFill/>
          <a:ln/>
        </p:spPr>
        <p:txBody>
          <a:bodyPr wrap="square" lIns="0" tIns="0" rIns="0" bIns="0" rtlCol="0" anchor="ctr"/>
          <a:lstStyle/>
          <a:p>
            <a:pPr indent="0" marL="0">
              <a:buNone/>
            </a:pPr>
            <a:r>
              <a:rPr lang="en-US" sz="1200" dirty="0">
                <a:solidFill>
                  <a:srgbClr val="5B6478"/>
                </a:solidFill>
              </a:rPr>
              <a:t>Rigid (custom code)</a:t>
            </a:r>
            <a:endParaRPr lang="en-US" sz="1200" dirty="0"/>
          </a:p>
        </p:txBody>
      </p:sp>
      <p:sp>
        <p:nvSpPr>
          <p:cNvPr id="15" name="Shape 13"/>
          <p:cNvSpPr/>
          <p:nvPr/>
        </p:nvSpPr>
        <p:spPr>
          <a:xfrm>
            <a:off x="6766560" y="4297680"/>
            <a:ext cx="365760" cy="365760"/>
          </a:xfrm>
          <a:prstGeom prst="ellipse">
            <a:avLst/>
          </a:prstGeom>
          <a:solidFill>
            <a:srgbClr val="8D99AE"/>
          </a:solidFill>
          <a:ln w="12700">
            <a:solidFill>
              <a:srgbClr val="8D99AE"/>
            </a:solidFill>
            <a:prstDash val="solid"/>
          </a:ln>
        </p:spPr>
      </p:sp>
      <p:sp>
        <p:nvSpPr>
          <p:cNvPr id="16" name="Text 14"/>
          <p:cNvSpPr txBox="1"/>
          <p:nvPr/>
        </p:nvSpPr>
        <p:spPr>
          <a:xfrm>
            <a:off x="5852160" y="4681728"/>
            <a:ext cx="2194560" cy="320040"/>
          </a:xfrm>
          <a:prstGeom prst="rect">
            <a:avLst/>
          </a:prstGeom>
          <a:noFill/>
          <a:ln/>
        </p:spPr>
        <p:txBody>
          <a:bodyPr wrap="square" lIns="0" tIns="0" rIns="0" bIns="0" rtlCol="0" anchor="ctr"/>
          <a:lstStyle/>
          <a:p>
            <a:pPr algn="ctr" indent="0" marL="0">
              <a:buNone/>
            </a:pPr>
            <a:r>
              <a:rPr lang="en-US" sz="1300" b="1" dirty="0">
                <a:solidFill>
                  <a:srgbClr val="1B1F2A"/>
                </a:solidFill>
              </a:rPr>
              <a:t>Qontak</a:t>
            </a:r>
            <a:endParaRPr lang="en-US" sz="1300" dirty="0"/>
          </a:p>
        </p:txBody>
      </p:sp>
      <p:sp>
        <p:nvSpPr>
          <p:cNvPr id="17" name="Shape 15"/>
          <p:cNvSpPr/>
          <p:nvPr/>
        </p:nvSpPr>
        <p:spPr>
          <a:xfrm>
            <a:off x="10149840" y="4663440"/>
            <a:ext cx="365760" cy="365760"/>
          </a:xfrm>
          <a:prstGeom prst="ellipse">
            <a:avLst/>
          </a:prstGeom>
          <a:solidFill>
            <a:srgbClr val="D1495B"/>
          </a:solidFill>
          <a:ln w="12700">
            <a:solidFill>
              <a:srgbClr val="D1495B"/>
            </a:solidFill>
            <a:prstDash val="solid"/>
          </a:ln>
        </p:spPr>
      </p:sp>
      <p:sp>
        <p:nvSpPr>
          <p:cNvPr id="18" name="Text 16"/>
          <p:cNvSpPr txBox="1"/>
          <p:nvPr/>
        </p:nvSpPr>
        <p:spPr>
          <a:xfrm>
            <a:off x="9235440" y="5047488"/>
            <a:ext cx="2194560" cy="320040"/>
          </a:xfrm>
          <a:prstGeom prst="rect">
            <a:avLst/>
          </a:prstGeom>
          <a:noFill/>
          <a:ln/>
        </p:spPr>
        <p:txBody>
          <a:bodyPr wrap="square" lIns="0" tIns="0" rIns="0" bIns="0" rtlCol="0" anchor="ctr"/>
          <a:lstStyle/>
          <a:p>
            <a:pPr algn="ctr" indent="0" marL="0">
              <a:buNone/>
            </a:pPr>
            <a:r>
              <a:rPr lang="en-US" sz="1300" b="1" dirty="0">
                <a:solidFill>
                  <a:srgbClr val="1B1F2A"/>
                </a:solidFill>
              </a:rPr>
              <a:t>Salesforce</a:t>
            </a:r>
            <a:endParaRPr lang="en-US" sz="1300" dirty="0"/>
          </a:p>
        </p:txBody>
      </p:sp>
      <p:sp>
        <p:nvSpPr>
          <p:cNvPr id="19" name="Shape 17"/>
          <p:cNvSpPr/>
          <p:nvPr/>
        </p:nvSpPr>
        <p:spPr>
          <a:xfrm>
            <a:off x="8412480" y="3474720"/>
            <a:ext cx="365760" cy="365760"/>
          </a:xfrm>
          <a:prstGeom prst="ellipse">
            <a:avLst/>
          </a:prstGeom>
          <a:solidFill>
            <a:srgbClr val="F5A524"/>
          </a:solidFill>
          <a:ln w="12700">
            <a:solidFill>
              <a:srgbClr val="F5A524"/>
            </a:solidFill>
            <a:prstDash val="solid"/>
          </a:ln>
        </p:spPr>
      </p:sp>
      <p:sp>
        <p:nvSpPr>
          <p:cNvPr id="20" name="Text 18"/>
          <p:cNvSpPr txBox="1"/>
          <p:nvPr/>
        </p:nvSpPr>
        <p:spPr>
          <a:xfrm>
            <a:off x="7498080" y="3858768"/>
            <a:ext cx="2194560" cy="320040"/>
          </a:xfrm>
          <a:prstGeom prst="rect">
            <a:avLst/>
          </a:prstGeom>
          <a:noFill/>
          <a:ln/>
        </p:spPr>
        <p:txBody>
          <a:bodyPr wrap="square" lIns="0" tIns="0" rIns="0" bIns="0" rtlCol="0" anchor="ctr"/>
          <a:lstStyle/>
          <a:p>
            <a:pPr algn="ctr" indent="0" marL="0">
              <a:buNone/>
            </a:pPr>
            <a:r>
              <a:rPr lang="en-US" sz="1300" b="1" dirty="0">
                <a:solidFill>
                  <a:srgbClr val="1B1F2A"/>
                </a:solidFill>
              </a:rPr>
              <a:t>HubSpot</a:t>
            </a:r>
            <a:endParaRPr lang="en-US" sz="1300" dirty="0"/>
          </a:p>
        </p:txBody>
      </p:sp>
      <p:sp>
        <p:nvSpPr>
          <p:cNvPr id="21" name="Shape 19"/>
          <p:cNvSpPr/>
          <p:nvPr/>
        </p:nvSpPr>
        <p:spPr>
          <a:xfrm>
            <a:off x="9989820" y="2034540"/>
            <a:ext cx="502920" cy="502920"/>
          </a:xfrm>
          <a:prstGeom prst="ellipse">
            <a:avLst/>
          </a:prstGeom>
          <a:solidFill>
            <a:srgbClr val="6D4AFF"/>
          </a:solidFill>
          <a:ln w="12700">
            <a:solidFill>
              <a:srgbClr val="6D4AFF"/>
            </a:solidFill>
            <a:prstDash val="solid"/>
          </a:ln>
        </p:spPr>
      </p:sp>
      <p:sp>
        <p:nvSpPr>
          <p:cNvPr id="22" name="Text 20"/>
          <p:cNvSpPr txBox="1"/>
          <p:nvPr/>
        </p:nvSpPr>
        <p:spPr>
          <a:xfrm>
            <a:off x="9144000" y="2555748"/>
            <a:ext cx="2194560" cy="320040"/>
          </a:xfrm>
          <a:prstGeom prst="rect">
            <a:avLst/>
          </a:prstGeom>
          <a:noFill/>
          <a:ln/>
        </p:spPr>
        <p:txBody>
          <a:bodyPr wrap="square" lIns="0" tIns="0" rIns="0" bIns="0" rtlCol="0" anchor="ctr"/>
          <a:lstStyle/>
          <a:p>
            <a:pPr algn="ctr" indent="0" marL="0">
              <a:buNone/>
            </a:pPr>
            <a:r>
              <a:rPr lang="en-US" sz="1500" b="1" dirty="0">
                <a:solidFill>
                  <a:srgbClr val="6D4AFF"/>
                </a:solidFill>
              </a:rPr>
              <a:t>TLab CRM</a:t>
            </a:r>
            <a:endParaRPr lang="en-US" sz="1500" dirty="0"/>
          </a:p>
        </p:txBody>
      </p:sp>
      <p:sp>
        <p:nvSpPr>
          <p:cNvPr id="23" name="Text 21"/>
          <p:cNvSpPr txBox="1"/>
          <p:nvPr/>
        </p:nvSpPr>
        <p:spPr>
          <a:xfrm>
            <a:off x="9418320" y="1371600"/>
            <a:ext cx="2103120" cy="274320"/>
          </a:xfrm>
          <a:prstGeom prst="rect">
            <a:avLst/>
          </a:prstGeom>
          <a:noFill/>
          <a:ln/>
        </p:spPr>
        <p:txBody>
          <a:bodyPr wrap="square" lIns="0" tIns="0" rIns="0" bIns="0" rtlCol="0" anchor="ctr"/>
          <a:lstStyle/>
          <a:p>
            <a:pPr algn="r" indent="0" marL="0">
              <a:buNone/>
            </a:pPr>
            <a:r>
              <a:rPr lang="en-US" sz="1100" i="1" dirty="0">
                <a:solidFill>
                  <a:srgbClr val="5B6478"/>
                </a:solidFill>
              </a:rPr>
              <a:t>Posisi indikatif</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Known gaps dan mitigation plan</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0"/>
                <a:gridCol w="603504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Mitigation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6400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Belum ada native WhatsApp/Email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Masuk Phase 2 sebagai add-on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6400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Belum ada integration marketplace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Mulai dari webhook, lalu bangun connector prioritas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Brand awareness masih rendah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Mulai dari existing client dan network TLab</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6400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AI Call belum tersedia</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Tidak dijanjikan ke klien, tetap di roadmap</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bl>
          </a:graphicData>
        </a:graphic>
      </p:graphicFrame>
      <p:sp>
        <p:nvSpPr>
          <p:cNvPr id="6" name="card"/>
          <p:cNvSpPr/>
          <p:nvPr/>
        </p:nvSpPr>
        <p:spPr>
          <a:xfrm>
            <a:off x="548640" y="4846320"/>
            <a:ext cx="11064240" cy="1097280"/>
          </a:xfrm>
          <a:prstGeom prst="roundRect">
            <a:avLst>
              <a:gd name="adj" fmla="val 6667"/>
            </a:avLst>
          </a:prstGeom>
          <a:solidFill>
            <a:srgbClr val="ECE8FF"/>
          </a:solidFill>
          <a:ln w="12700">
            <a:solidFill>
              <a:srgbClr val="ECE8FF"/>
            </a:solidFill>
            <a:prstDash val="solid"/>
          </a:ln>
        </p:spPr>
      </p:sp>
      <p:sp>
        <p:nvSpPr>
          <p:cNvPr id="7" name="Text 4"/>
          <p:cNvSpPr txBox="1"/>
          <p:nvPr/>
        </p:nvSpPr>
        <p:spPr>
          <a:xfrm>
            <a:off x="822960" y="4846320"/>
            <a:ext cx="10515600" cy="1097280"/>
          </a:xfrm>
          <a:prstGeom prst="rect">
            <a:avLst/>
          </a:prstGeom>
          <a:noFill/>
          <a:ln/>
        </p:spPr>
        <p:txBody>
          <a:bodyPr wrap="square" lIns="0" tIns="0" rIns="0" bIns="0" rtlCol="0" anchor="ctr"/>
          <a:lstStyle/>
          <a:p>
            <a:pPr indent="0" marL="0">
              <a:buNone/>
            </a:pPr>
            <a:r>
              <a:rPr lang="en-US" sz="1700" b="1" dirty="0">
                <a:solidFill>
                  <a:srgbClr val="6D4AFF"/>
                </a:solidFill>
              </a:rPr>
              <a:t>Positioning ini masih hipotesis dan akan divalidasi lewat customer interview sebelum di-lock.</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Beachhead: mulai fokus, menang, lalu ekspansi</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19</a:t>
            </a:r>
            <a:endParaRPr lang="en-US" sz="1000" dirty="0"/>
          </a:p>
        </p:txBody>
      </p:sp>
      <p:sp>
        <p:nvSpPr>
          <p:cNvPr id="5" name="card"/>
          <p:cNvSpPr/>
          <p:nvPr/>
        </p:nvSpPr>
        <p:spPr>
          <a:xfrm>
            <a:off x="548640" y="1463040"/>
            <a:ext cx="3566160" cy="4389120"/>
          </a:xfrm>
          <a:prstGeom prst="roundRect">
            <a:avLst>
              <a:gd name="adj" fmla="val 2051"/>
            </a:avLst>
          </a:prstGeom>
          <a:solidFill>
            <a:srgbClr val="EEF1F7"/>
          </a:solidFill>
          <a:ln w="12700">
            <a:solidFill>
              <a:srgbClr val="EEF1F7"/>
            </a:solidFill>
            <a:prstDash val="solid"/>
          </a:ln>
        </p:spPr>
      </p:sp>
      <p:sp>
        <p:nvSpPr>
          <p:cNvPr id="6" name="Shape 4"/>
          <p:cNvSpPr/>
          <p:nvPr/>
        </p:nvSpPr>
        <p:spPr>
          <a:xfrm>
            <a:off x="822960" y="1737360"/>
            <a:ext cx="731520" cy="731520"/>
          </a:xfrm>
          <a:prstGeom prst="ellipse">
            <a:avLst/>
          </a:prstGeom>
          <a:solidFill>
            <a:srgbClr val="14213D"/>
          </a:solidFill>
          <a:ln w="12700">
            <a:solidFill>
              <a:srgbClr val="14213D"/>
            </a:solidFill>
            <a:prstDash val="solid"/>
          </a:ln>
        </p:spPr>
      </p:sp>
      <p:sp>
        <p:nvSpPr>
          <p:cNvPr id="7" name="Text 5"/>
          <p:cNvSpPr txBox="1"/>
          <p:nvPr/>
        </p:nvSpPr>
        <p:spPr>
          <a:xfrm>
            <a:off x="822960" y="17373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822960" y="2651760"/>
            <a:ext cx="3017520" cy="82296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Ideal Customer Profile</a:t>
            </a:r>
            <a:endParaRPr lang="en-US" sz="2000" dirty="0"/>
          </a:p>
        </p:txBody>
      </p:sp>
      <p:sp>
        <p:nvSpPr>
          <p:cNvPr id="9" name="Text 7"/>
          <p:cNvSpPr txBox="1"/>
          <p:nvPr/>
        </p:nvSpPr>
        <p:spPr>
          <a:xfrm>
            <a:off x="822960" y="3474720"/>
            <a:ext cx="3017520" cy="2194560"/>
          </a:xfrm>
          <a:prstGeom prst="rect">
            <a:avLst/>
          </a:prstGeom>
          <a:noFill/>
          <a:ln/>
        </p:spPr>
        <p:txBody>
          <a:bodyPr wrap="square" lIns="0" tIns="0" rIns="0" bIns="0" rtlCol="0" anchor="t"/>
          <a:lstStyle/>
          <a:p>
            <a:pPr indent="0" marL="0">
              <a:buNone/>
            </a:pPr>
            <a:r>
              <a:rPr lang="en-US" sz="1600" dirty="0">
                <a:solidFill>
                  <a:srgbClr val="1B1F2A"/>
                </a:solidFill>
              </a:rPr>
              <a:t>Perusahaan B2B menengah-besar di Indonesia dengan ≥20 sales rep, sales cycle multi-stage, dan sistem internal yang perlu terintegrasi.</a:t>
            </a:r>
            <a:endParaRPr lang="en-US" sz="1600" dirty="0"/>
          </a:p>
        </p:txBody>
      </p:sp>
      <p:sp>
        <p:nvSpPr>
          <p:cNvPr id="10" name="card"/>
          <p:cNvSpPr/>
          <p:nvPr/>
        </p:nvSpPr>
        <p:spPr>
          <a:xfrm>
            <a:off x="4297680" y="1463040"/>
            <a:ext cx="3566160" cy="4389120"/>
          </a:xfrm>
          <a:prstGeom prst="roundRect">
            <a:avLst>
              <a:gd name="adj" fmla="val 2051"/>
            </a:avLst>
          </a:prstGeom>
          <a:solidFill>
            <a:srgbClr val="EEF1F7"/>
          </a:solidFill>
          <a:ln w="12700">
            <a:solidFill>
              <a:srgbClr val="EEF1F7"/>
            </a:solidFill>
            <a:prstDash val="solid"/>
          </a:ln>
        </p:spPr>
      </p:sp>
      <p:sp>
        <p:nvSpPr>
          <p:cNvPr id="11" name="Shape 9"/>
          <p:cNvSpPr/>
          <p:nvPr/>
        </p:nvSpPr>
        <p:spPr>
          <a:xfrm>
            <a:off x="4572000" y="1737360"/>
            <a:ext cx="731520" cy="731520"/>
          </a:xfrm>
          <a:prstGeom prst="ellipse">
            <a:avLst/>
          </a:prstGeom>
          <a:solidFill>
            <a:srgbClr val="2A9D8F"/>
          </a:solidFill>
          <a:ln w="12700">
            <a:solidFill>
              <a:srgbClr val="2A9D8F"/>
            </a:solidFill>
            <a:prstDash val="solid"/>
          </a:ln>
        </p:spPr>
      </p:sp>
      <p:sp>
        <p:nvSpPr>
          <p:cNvPr id="12" name="Text 10"/>
          <p:cNvSpPr txBox="1"/>
          <p:nvPr/>
        </p:nvSpPr>
        <p:spPr>
          <a:xfrm>
            <a:off x="4572000" y="17373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4572000" y="2651760"/>
            <a:ext cx="3017520" cy="82296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Entry point</a:t>
            </a:r>
            <a:endParaRPr lang="en-US" sz="2000" dirty="0"/>
          </a:p>
        </p:txBody>
      </p:sp>
      <p:sp>
        <p:nvSpPr>
          <p:cNvPr id="14" name="Text 12"/>
          <p:cNvSpPr txBox="1"/>
          <p:nvPr/>
        </p:nvSpPr>
        <p:spPr>
          <a:xfrm>
            <a:off x="4572000" y="3474720"/>
            <a:ext cx="3017520" cy="2194560"/>
          </a:xfrm>
          <a:prstGeom prst="rect">
            <a:avLst/>
          </a:prstGeom>
          <a:noFill/>
          <a:ln/>
        </p:spPr>
        <p:txBody>
          <a:bodyPr wrap="square" lIns="0" tIns="0" rIns="0" bIns="0" rtlCol="0" anchor="t"/>
          <a:lstStyle/>
          <a:p>
            <a:pPr indent="0" marL="0">
              <a:buNone/>
            </a:pPr>
            <a:r>
              <a:rPr lang="en-US" sz="1600" dirty="0">
                <a:solidFill>
                  <a:srgbClr val="1B1F2A"/>
                </a:solidFill>
              </a:rPr>
              <a:t>Existing client dan network TLab, dengan trust yang sudah terbangun.</a:t>
            </a:r>
            <a:endParaRPr lang="en-US" sz="1600" dirty="0"/>
          </a:p>
        </p:txBody>
      </p:sp>
      <p:sp>
        <p:nvSpPr>
          <p:cNvPr id="15" name="card"/>
          <p:cNvSpPr/>
          <p:nvPr/>
        </p:nvSpPr>
        <p:spPr>
          <a:xfrm>
            <a:off x="8046720" y="1463040"/>
            <a:ext cx="3566160" cy="4389120"/>
          </a:xfrm>
          <a:prstGeom prst="roundRect">
            <a:avLst>
              <a:gd name="adj" fmla="val 2051"/>
            </a:avLst>
          </a:prstGeom>
          <a:solidFill>
            <a:srgbClr val="EEF1F7"/>
          </a:solidFill>
          <a:ln w="12700">
            <a:solidFill>
              <a:srgbClr val="EEF1F7"/>
            </a:solidFill>
            <a:prstDash val="solid"/>
          </a:ln>
        </p:spPr>
      </p:sp>
      <p:sp>
        <p:nvSpPr>
          <p:cNvPr id="16" name="Shape 14"/>
          <p:cNvSpPr/>
          <p:nvPr/>
        </p:nvSpPr>
        <p:spPr>
          <a:xfrm>
            <a:off x="8321040" y="1737360"/>
            <a:ext cx="731520" cy="731520"/>
          </a:xfrm>
          <a:prstGeom prst="ellipse">
            <a:avLst/>
          </a:prstGeom>
          <a:solidFill>
            <a:srgbClr val="F5A524"/>
          </a:solidFill>
          <a:ln w="12700">
            <a:solidFill>
              <a:srgbClr val="F5A524"/>
            </a:solidFill>
            <a:prstDash val="solid"/>
          </a:ln>
        </p:spPr>
      </p:sp>
      <p:sp>
        <p:nvSpPr>
          <p:cNvPr id="17" name="Text 15"/>
          <p:cNvSpPr txBox="1"/>
          <p:nvPr/>
        </p:nvSpPr>
        <p:spPr>
          <a:xfrm>
            <a:off x="8321040" y="1737360"/>
            <a:ext cx="731520" cy="731520"/>
          </a:xfrm>
          <a:prstGeom prst="rect">
            <a:avLst/>
          </a:prstGeom>
          <a:noFill/>
          <a:ln/>
        </p:spPr>
        <p:txBody>
          <a:bodyPr wrap="square" lIns="0" tIns="0" rIns="0" bIns="0" rtlCol="0" anchor="ctr"/>
          <a:lstStyle/>
          <a:p>
            <a:pPr algn="ctr" indent="0" marL="0">
              <a:buNone/>
            </a:pPr>
            <a:r>
              <a:rPr lang="en-US" sz="2400" b="1" dirty="0">
                <a:solidFill>
                  <a:srgbClr val="1B1F2A"/>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8321040" y="2651760"/>
            <a:ext cx="3017520" cy="82296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Priority vertical</a:t>
            </a:r>
            <a:endParaRPr lang="en-US" sz="2000" dirty="0"/>
          </a:p>
        </p:txBody>
      </p:sp>
      <p:sp>
        <p:nvSpPr>
          <p:cNvPr id="19" name="Text 17"/>
          <p:cNvSpPr txBox="1"/>
          <p:nvPr/>
        </p:nvSpPr>
        <p:spPr>
          <a:xfrm>
            <a:off x="8321040" y="3474720"/>
            <a:ext cx="3017520" cy="2194560"/>
          </a:xfrm>
          <a:prstGeom prst="rect">
            <a:avLst/>
          </a:prstGeom>
          <a:noFill/>
          <a:ln/>
        </p:spPr>
        <p:txBody>
          <a:bodyPr wrap="square" lIns="0" tIns="0" rIns="0" bIns="0" rtlCol="0" anchor="t"/>
          <a:lstStyle/>
          <a:p>
            <a:pPr indent="0" marL="0">
              <a:buNone/>
            </a:pPr>
            <a:r>
              <a:rPr lang="en-US" sz="1600" dirty="0">
                <a:solidFill>
                  <a:srgbClr val="1B1F2A"/>
                </a:solidFill>
              </a:rPr>
              <a:t>Ditentukan setelah customer interview. Kami tidak mengklaim vertical sebelum tervalidasi.</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Sales motion: sales-led, dengan Pilot sebagai entry point</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20</a:t>
            </a:r>
            <a:endParaRPr lang="en-US" sz="1000" dirty="0"/>
          </a:p>
        </p:txBody>
      </p:sp>
      <p:sp>
        <p:nvSpPr>
          <p:cNvPr id="5" name="Shape 3"/>
          <p:cNvSpPr/>
          <p:nvPr/>
        </p:nvSpPr>
        <p:spPr>
          <a:xfrm>
            <a:off x="548640" y="1737360"/>
            <a:ext cx="2194560" cy="1005840"/>
          </a:xfrm>
          <a:prstGeom prst="homePlate">
            <a:avLst/>
          </a:prstGeom>
          <a:solidFill>
            <a:srgbClr val="14213D"/>
          </a:solidFill>
          <a:ln w="12700">
            <a:solidFill>
              <a:srgbClr val="14213D"/>
            </a:solidFill>
            <a:prstDash val="solid"/>
          </a:ln>
        </p:spPr>
      </p:sp>
      <p:sp>
        <p:nvSpPr>
          <p:cNvPr id="6" name="Text 4"/>
          <p:cNvSpPr txBox="1"/>
          <p:nvPr/>
        </p:nvSpPr>
        <p:spPr>
          <a:xfrm>
            <a:off x="640080" y="1737360"/>
            <a:ext cx="17373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Discovery</a:t>
            </a:r>
            <a:endParaRPr lang="en-US" sz="1600" dirty="0"/>
          </a:p>
        </p:txBody>
      </p:sp>
      <p:sp>
        <p:nvSpPr>
          <p:cNvPr id="7" name="Shape 5"/>
          <p:cNvSpPr/>
          <p:nvPr/>
        </p:nvSpPr>
        <p:spPr>
          <a:xfrm>
            <a:off x="2788920" y="1737360"/>
            <a:ext cx="2194560" cy="1005840"/>
          </a:xfrm>
          <a:prstGeom prst="homePlate">
            <a:avLst/>
          </a:prstGeom>
          <a:solidFill>
            <a:srgbClr val="14213D"/>
          </a:solidFill>
          <a:ln w="12700">
            <a:solidFill>
              <a:srgbClr val="14213D"/>
            </a:solidFill>
            <a:prstDash val="solid"/>
          </a:ln>
        </p:spPr>
      </p:sp>
      <p:sp>
        <p:nvSpPr>
          <p:cNvPr id="8" name="Text 6"/>
          <p:cNvSpPr txBox="1"/>
          <p:nvPr/>
        </p:nvSpPr>
        <p:spPr>
          <a:xfrm>
            <a:off x="2880360" y="1737360"/>
            <a:ext cx="17373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Demo</a:t>
            </a:r>
            <a:endParaRPr lang="en-US" sz="1600" dirty="0"/>
          </a:p>
        </p:txBody>
      </p:sp>
      <p:sp>
        <p:nvSpPr>
          <p:cNvPr id="9" name="Shape 7"/>
          <p:cNvSpPr/>
          <p:nvPr/>
        </p:nvSpPr>
        <p:spPr>
          <a:xfrm>
            <a:off x="5029200" y="1737360"/>
            <a:ext cx="2194560" cy="1005840"/>
          </a:xfrm>
          <a:prstGeom prst="homePlate">
            <a:avLst/>
          </a:prstGeom>
          <a:solidFill>
            <a:srgbClr val="6D4AFF"/>
          </a:solidFill>
          <a:ln w="12700">
            <a:solidFill>
              <a:srgbClr val="6D4AFF"/>
            </a:solidFill>
            <a:prstDash val="solid"/>
          </a:ln>
        </p:spPr>
      </p:sp>
      <p:sp>
        <p:nvSpPr>
          <p:cNvPr id="10" name="Text 8"/>
          <p:cNvSpPr txBox="1"/>
          <p:nvPr/>
        </p:nvSpPr>
        <p:spPr>
          <a:xfrm>
            <a:off x="5120640" y="1737360"/>
            <a:ext cx="17373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PILOT</a:t>
            </a:r>
            <a:endParaRPr lang="en-US" sz="1600" dirty="0"/>
          </a:p>
        </p:txBody>
      </p:sp>
      <p:sp>
        <p:nvSpPr>
          <p:cNvPr id="11" name="Text 9"/>
          <p:cNvSpPr txBox="1"/>
          <p:nvPr/>
        </p:nvSpPr>
        <p:spPr>
          <a:xfrm>
            <a:off x="5029200" y="2834640"/>
            <a:ext cx="2103120" cy="640080"/>
          </a:xfrm>
          <a:prstGeom prst="rect">
            <a:avLst/>
          </a:prstGeom>
          <a:noFill/>
          <a:ln/>
        </p:spPr>
        <p:txBody>
          <a:bodyPr wrap="square" lIns="0" tIns="0" rIns="0" bIns="0" rtlCol="0" anchor="t"/>
          <a:lstStyle/>
          <a:p>
            <a:pPr indent="0" marL="0">
              <a:buNone/>
            </a:pPr>
            <a:r>
              <a:rPr lang="en-US" sz="1400" dirty="0">
                <a:solidFill>
                  <a:srgbClr val="5B6478"/>
                </a:solidFill>
              </a:rPr>
              <a:t>30 hari, seat terbatas</a:t>
            </a:r>
            <a:endParaRPr lang="en-US" sz="1400" dirty="0"/>
          </a:p>
        </p:txBody>
      </p:sp>
      <p:sp>
        <p:nvSpPr>
          <p:cNvPr id="12" name="Shape 10"/>
          <p:cNvSpPr/>
          <p:nvPr/>
        </p:nvSpPr>
        <p:spPr>
          <a:xfrm>
            <a:off x="7269480" y="1737360"/>
            <a:ext cx="2194560" cy="1005840"/>
          </a:xfrm>
          <a:prstGeom prst="homePlate">
            <a:avLst/>
          </a:prstGeom>
          <a:solidFill>
            <a:srgbClr val="2A9D8F"/>
          </a:solidFill>
          <a:ln w="12700">
            <a:solidFill>
              <a:srgbClr val="2A9D8F"/>
            </a:solidFill>
            <a:prstDash val="solid"/>
          </a:ln>
        </p:spPr>
      </p:sp>
      <p:sp>
        <p:nvSpPr>
          <p:cNvPr id="13" name="Text 11"/>
          <p:cNvSpPr txBox="1"/>
          <p:nvPr/>
        </p:nvSpPr>
        <p:spPr>
          <a:xfrm>
            <a:off x="7360920" y="1737360"/>
            <a:ext cx="17373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Annual contract</a:t>
            </a:r>
            <a:endParaRPr lang="en-US" sz="1600" dirty="0"/>
          </a:p>
        </p:txBody>
      </p:sp>
      <p:sp>
        <p:nvSpPr>
          <p:cNvPr id="14" name="Text 12"/>
          <p:cNvSpPr txBox="1"/>
          <p:nvPr/>
        </p:nvSpPr>
        <p:spPr>
          <a:xfrm>
            <a:off x="7269480" y="2834640"/>
            <a:ext cx="2103120" cy="640080"/>
          </a:xfrm>
          <a:prstGeom prst="rect">
            <a:avLst/>
          </a:prstGeom>
          <a:noFill/>
          <a:ln/>
        </p:spPr>
        <p:txBody>
          <a:bodyPr wrap="square" lIns="0" tIns="0" rIns="0" bIns="0" rtlCol="0" anchor="t"/>
          <a:lstStyle/>
          <a:p>
            <a:pPr indent="0" marL="0">
              <a:buNone/>
            </a:pPr>
            <a:r>
              <a:rPr lang="en-US" sz="1400" dirty="0">
                <a:solidFill>
                  <a:srgbClr val="5B6478"/>
                </a:solidFill>
              </a:rPr>
              <a:t>upfront payment</a:t>
            </a:r>
            <a:endParaRPr lang="en-US" sz="1400" dirty="0"/>
          </a:p>
        </p:txBody>
      </p:sp>
      <p:sp>
        <p:nvSpPr>
          <p:cNvPr id="15" name="Shape 13"/>
          <p:cNvSpPr/>
          <p:nvPr/>
        </p:nvSpPr>
        <p:spPr>
          <a:xfrm>
            <a:off x="9509760" y="1737360"/>
            <a:ext cx="2194560" cy="1005840"/>
          </a:xfrm>
          <a:prstGeom prst="homePlate">
            <a:avLst/>
          </a:prstGeom>
          <a:solidFill>
            <a:srgbClr val="2A9D8F"/>
          </a:solidFill>
          <a:ln w="12700">
            <a:solidFill>
              <a:srgbClr val="2A9D8F"/>
            </a:solidFill>
            <a:prstDash val="solid"/>
          </a:ln>
        </p:spPr>
      </p:sp>
      <p:sp>
        <p:nvSpPr>
          <p:cNvPr id="16" name="Text 14"/>
          <p:cNvSpPr txBox="1"/>
          <p:nvPr/>
        </p:nvSpPr>
        <p:spPr>
          <a:xfrm>
            <a:off x="9601200" y="1737360"/>
            <a:ext cx="17373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Expansion</a:t>
            </a:r>
            <a:endParaRPr lang="en-US" sz="1600" dirty="0"/>
          </a:p>
        </p:txBody>
      </p:sp>
      <p:sp>
        <p:nvSpPr>
          <p:cNvPr id="17" name="Text 15"/>
          <p:cNvSpPr txBox="1"/>
          <p:nvPr/>
        </p:nvSpPr>
        <p:spPr>
          <a:xfrm>
            <a:off x="9509760" y="2834640"/>
            <a:ext cx="2103120" cy="640080"/>
          </a:xfrm>
          <a:prstGeom prst="rect">
            <a:avLst/>
          </a:prstGeom>
          <a:noFill/>
          <a:ln/>
        </p:spPr>
        <p:txBody>
          <a:bodyPr wrap="square" lIns="0" tIns="0" rIns="0" bIns="0" rtlCol="0" anchor="t"/>
          <a:lstStyle/>
          <a:p>
            <a:pPr indent="0" marL="0">
              <a:buNone/>
            </a:pPr>
            <a:r>
              <a:rPr lang="en-US" sz="1400" dirty="0">
                <a:solidFill>
                  <a:srgbClr val="5B6478"/>
                </a:solidFill>
              </a:rPr>
              <a:t>seat, credit, add-on, module</a:t>
            </a:r>
            <a:endParaRPr lang="en-US" sz="1400" dirty="0"/>
          </a:p>
        </p:txBody>
      </p:sp>
      <p:sp>
        <p:nvSpPr>
          <p:cNvPr id="18" name="card"/>
          <p:cNvSpPr/>
          <p:nvPr/>
        </p:nvSpPr>
        <p:spPr>
          <a:xfrm>
            <a:off x="548640" y="3931920"/>
            <a:ext cx="5440680" cy="2011680"/>
          </a:xfrm>
          <a:prstGeom prst="roundRect">
            <a:avLst>
              <a:gd name="adj" fmla="val 3636"/>
            </a:avLst>
          </a:prstGeom>
          <a:solidFill>
            <a:srgbClr val="EEF1F7"/>
          </a:solidFill>
          <a:ln w="12700">
            <a:solidFill>
              <a:srgbClr val="EEF1F7"/>
            </a:solidFill>
            <a:prstDash val="solid"/>
          </a:ln>
        </p:spPr>
      </p:sp>
      <p:sp>
        <p:nvSpPr>
          <p:cNvPr id="19" name="card"/>
          <p:cNvSpPr/>
          <p:nvPr/>
        </p:nvSpPr>
        <p:spPr>
          <a:xfrm>
            <a:off x="6172200" y="3931920"/>
            <a:ext cx="5440680" cy="2011680"/>
          </a:xfrm>
          <a:prstGeom prst="roundRect">
            <a:avLst>
              <a:gd name="adj" fmla="val 3636"/>
            </a:avLst>
          </a:prstGeom>
          <a:solidFill>
            <a:srgbClr val="EEF1F7"/>
          </a:solidFill>
          <a:ln w="12700">
            <a:solidFill>
              <a:srgbClr val="EEF1F7"/>
            </a:solidFill>
            <a:prstDash val="solid"/>
          </a:ln>
        </p:spPr>
      </p:sp>
      <p:sp>
        <p:nvSpPr>
          <p:cNvPr id="20" name="Text 18"/>
          <p:cNvSpPr txBox="1"/>
          <p:nvPr/>
        </p:nvSpPr>
        <p:spPr>
          <a:xfrm>
            <a:off x="822960" y="4023360"/>
            <a:ext cx="4937760" cy="1828800"/>
          </a:xfrm>
          <a:prstGeom prst="rect">
            <a:avLst/>
          </a:prstGeom>
          <a:noFill/>
          <a:ln/>
        </p:spPr>
        <p:txBody>
          <a:bodyPr wrap="square" lIns="0" tIns="0" rIns="0" bIns="0" rtlCol="0" anchor="ctr"/>
          <a:lstStyle/>
          <a:p>
            <a:pPr indent="0" marL="0">
              <a:buNone/>
            </a:pPr>
            <a:r>
              <a:rPr lang="en-US" sz="1800" b="1" dirty="0">
                <a:solidFill>
                  <a:srgbClr val="14213D"/>
                </a:solidFill>
              </a:rPr>
              <a:t>Paid Pilot dengan success criteria tertulis</a:t>
            </a:r>
            <a:endParaRPr lang="en-US" sz="1800" dirty="0"/>
          </a:p>
          <a:p>
            <a:pPr indent="0" marL="0">
              <a:buNone/>
            </a:pPr>
            <a:r>
              <a:rPr lang="en-US" sz="1600" dirty="0">
                <a:solidFill>
                  <a:srgbClr val="1B1F2A"/>
                </a:solidFill>
              </a:rPr>
              <a:t>Klien berkomitmen sejak awal, dan conversion ke kontrak terukur.</a:t>
            </a:r>
            <a:endParaRPr lang="en-US" sz="1800" dirty="0"/>
          </a:p>
        </p:txBody>
      </p:sp>
      <p:sp>
        <p:nvSpPr>
          <p:cNvPr id="21" name="Text 19"/>
          <p:cNvSpPr txBox="1"/>
          <p:nvPr/>
        </p:nvSpPr>
        <p:spPr>
          <a:xfrm>
            <a:off x="6446520" y="4023360"/>
            <a:ext cx="4937760" cy="1828800"/>
          </a:xfrm>
          <a:prstGeom prst="rect">
            <a:avLst/>
          </a:prstGeom>
          <a:noFill/>
          <a:ln/>
        </p:spPr>
        <p:txBody>
          <a:bodyPr wrap="square" lIns="0" tIns="0" rIns="0" bIns="0" rtlCol="0" anchor="ctr"/>
          <a:lstStyle/>
          <a:p>
            <a:pPr indent="0" marL="0">
              <a:buNone/>
            </a:pPr>
            <a:r>
              <a:rPr lang="en-US" sz="1800" b="1" dirty="0">
                <a:solidFill>
                  <a:srgbClr val="14213D"/>
                </a:solidFill>
              </a:rPr>
              <a:t>Co-configured onboarding</a:t>
            </a:r>
            <a:endParaRPr lang="en-US" sz="1800" dirty="0"/>
          </a:p>
          <a:p>
            <a:pPr indent="0" marL="0">
              <a:buNone/>
            </a:pPr>
            <a:r>
              <a:rPr lang="en-US" sz="1600" dirty="0">
                <a:solidFill>
                  <a:srgbClr val="1B1F2A"/>
                </a:solidFill>
              </a:rPr>
              <a:t>Pipeline, stage, dan rule disiapkan bersama tim klien sejak hari pertama.</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GTM execution dalam tiga fase</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560320"/>
                <a:gridCol w="4023360"/>
                <a:gridCol w="4480560"/>
              </a:tblGrid>
              <a:tr h="8686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Fase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8686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 Design partner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Validasi product-market fit dan pricing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3–5 Pilot, written feedback, kalibrasi AI credit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8686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B. Limited launch</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Membuktikan repeatable sales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Standard package, sales kit, case study</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C. Scale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Menambah channel distribusi</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SI partner, partnership dengan official WhatsApp BSP, content &amp; event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bl>
          </a:graphicData>
        </a:graphic>
      </p:graphicFrame>
      <p:sp>
        <p:nvSpPr>
          <p:cNvPr id="6" name="Text 3"/>
          <p:cNvSpPr txBox="1"/>
          <p:nvPr/>
        </p:nvSpPr>
        <p:spPr>
          <a:xfrm>
            <a:off x="548640" y="5212080"/>
            <a:ext cx="11064240" cy="365760"/>
          </a:xfrm>
          <a:prstGeom prst="rect">
            <a:avLst/>
          </a:prstGeom>
          <a:noFill/>
          <a:ln/>
        </p:spPr>
        <p:txBody>
          <a:bodyPr wrap="square" lIns="0" tIns="0" rIns="0" bIns="0" rtlCol="0" anchor="ctr"/>
          <a:lstStyle/>
          <a:p>
            <a:pPr indent="0" marL="0">
              <a:buNone/>
            </a:pPr>
            <a:r>
              <a:rPr lang="en-US" sz="1400" i="1" dirty="0">
                <a:solidFill>
                  <a:srgbClr val="9A6700"/>
                </a:solidFill>
              </a:rPr>
              <a:t>Target jumlah klien dan revenue per fase: [__ , ditetapkan manajemen]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Distribution channel dan success metrics</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22</a:t>
            </a:r>
            <a:endParaRPr lang="en-US" sz="1000" dirty="0"/>
          </a:p>
        </p:txBody>
      </p:sp>
      <p:sp>
        <p:nvSpPr>
          <p:cNvPr id="5" name="Text 3"/>
          <p:cNvSpPr txBox="1"/>
          <p:nvPr/>
        </p:nvSpPr>
        <p:spPr>
          <a:xfrm>
            <a:off x="548640" y="1371600"/>
            <a:ext cx="4937760" cy="457200"/>
          </a:xfrm>
          <a:prstGeom prst="rect">
            <a:avLst/>
          </a:prstGeom>
          <a:noFill/>
          <a:ln/>
        </p:spPr>
        <p:txBody>
          <a:bodyPr wrap="square" lIns="0" tIns="0" rIns="0" bIns="0" rtlCol="0" anchor="ctr"/>
          <a:lstStyle/>
          <a:p>
            <a:pPr indent="0" marL="0">
              <a:buNone/>
            </a:pPr>
            <a:r>
              <a:rPr lang="en-US" sz="2200" b="1" dirty="0">
                <a:solidFill>
                  <a:srgbClr val="6D4AFF"/>
                </a:solidFill>
                <a:latin typeface="Cambria" pitchFamily="34" charset="0"/>
                <a:ea typeface="Cambria" pitchFamily="34" charset="-122"/>
                <a:cs typeface="Cambria" pitchFamily="34" charset="-120"/>
              </a:rPr>
              <a:t>Channel</a:t>
            </a:r>
            <a:endParaRPr lang="en-US" sz="2200" dirty="0"/>
          </a:p>
        </p:txBody>
      </p:sp>
      <p:sp>
        <p:nvSpPr>
          <p:cNvPr id="6" name="Text 4"/>
          <p:cNvSpPr txBox="1"/>
          <p:nvPr/>
        </p:nvSpPr>
        <p:spPr>
          <a:xfrm>
            <a:off x="548640" y="1920240"/>
            <a:ext cx="4937760" cy="384048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1B1F2A"/>
                </a:solidFill>
              </a:rPr>
              <a:t>Direct sales TLab: </a:t>
            </a:r>
            <a:pPr indent="0" marL="0">
              <a:spcAft>
                <a:spcPts val="800"/>
              </a:spcAft>
              <a:buNone/>
            </a:pPr>
            <a:r>
              <a:rPr lang="en-US" sz="1500" dirty="0">
                <a:solidFill>
                  <a:srgbClr val="1B1F2A"/>
                </a:solidFill>
              </a:rPr>
              <a:t>sales dan presales ke existing client dan prospek</a:t>
            </a:r>
            <a:endParaRPr lang="en-US" sz="1500" dirty="0"/>
          </a:p>
          <a:p>
            <a:pPr marL="203200" indent="-203200">
              <a:spcAft>
                <a:spcPts val="800"/>
              </a:spcAft>
              <a:buSzPct val="100000"/>
              <a:buChar char="•"/>
            </a:pPr>
            <a:r>
              <a:rPr lang="en-US" sz="1500" b="1" dirty="0">
                <a:solidFill>
                  <a:srgbClr val="1B1F2A"/>
                </a:solidFill>
              </a:rPr>
              <a:t>SI partner: </a:t>
            </a:r>
            <a:pPr indent="0" marL="0">
              <a:spcAft>
                <a:spcPts val="800"/>
              </a:spcAft>
              <a:buNone/>
            </a:pPr>
            <a:r>
              <a:rPr lang="en-US" sz="1500" dirty="0">
                <a:solidFill>
                  <a:srgbClr val="1B1F2A"/>
                </a:solidFill>
              </a:rPr>
              <a:t>memperluas reach tanpa menambah headcount</a:t>
            </a:r>
            <a:endParaRPr lang="en-US" sz="1500" dirty="0"/>
          </a:p>
          <a:p>
            <a:pPr marL="203200" indent="-203200">
              <a:spcAft>
                <a:spcPts val="800"/>
              </a:spcAft>
              <a:buSzPct val="100000"/>
              <a:buChar char="•"/>
            </a:pPr>
            <a:r>
              <a:rPr lang="en-US" sz="1500" b="1" dirty="0">
                <a:solidFill>
                  <a:srgbClr val="1B1F2A"/>
                </a:solidFill>
              </a:rPr>
              <a:t>Official WhatsApp BSP: </a:t>
            </a:r>
            <a:pPr indent="0" marL="0">
              <a:spcAft>
                <a:spcPts val="800"/>
              </a:spcAft>
              <a:buNone/>
            </a:pPr>
            <a:r>
              <a:rPr lang="en-US" sz="1500" dirty="0">
                <a:solidFill>
                  <a:srgbClr val="1B1F2A"/>
                </a:solidFill>
              </a:rPr>
              <a:t>prasyarat add-on omnichannel sekaligus referral channel</a:t>
            </a:r>
            <a:endParaRPr lang="en-US" sz="1500" dirty="0"/>
          </a:p>
          <a:p>
            <a:pPr marL="203200" indent="-203200">
              <a:spcAft>
                <a:spcPts val="800"/>
              </a:spcAft>
              <a:buSzPct val="100000"/>
              <a:buChar char="•"/>
            </a:pPr>
            <a:r>
              <a:rPr lang="en-US" sz="1500" b="1" dirty="0">
                <a:solidFill>
                  <a:srgbClr val="1B1F2A"/>
                </a:solidFill>
              </a:rPr>
              <a:t>Customer reference: </a:t>
            </a:r>
            <a:pPr indent="0" marL="0">
              <a:spcAft>
                <a:spcPts val="800"/>
              </a:spcAft>
              <a:buNone/>
            </a:pPr>
            <a:r>
              <a:rPr lang="en-US" sz="1500" dirty="0">
                <a:solidFill>
                  <a:srgbClr val="1B1F2A"/>
                </a:solidFill>
              </a:rPr>
              <a:t>case study dari design partner</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2926080"/>
                <a:gridCol w="283464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Yang diukur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Pilot-to-contract conversion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Product &amp; pricing fit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Average contract value (ACV)</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Kekuatan packaging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Time-to-first-value</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Kecepatan onboarding</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AI credit utilization</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Adopsi AI</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Net revenue retention (NRR)</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Expansion &amp; renewal</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1F7"/>
                    </a:solidFill>
                  </a:tcPr>
                </a:tc>
              </a:tr>
              <a:tr h="50292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Contribution margin per tenant</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Kesehatan unit economics</a:t>
                      </a:r>
                      <a:endParaRPr lang="en-US" sz="1400" dirty="0">
                        <a:latin typeface="Calibri" charset="0"/>
                        <a:ea typeface="Calibri" charset="0"/>
                        <a:cs typeface="Calibri" charset="0"/>
                      </a:endParaRPr>
                    </a:p>
                  </a:txBody>
                  <a:tcPr marL="91440" marR="91440" marT="54864" marB="54864"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852160" y="5029200"/>
            <a:ext cx="5760720" cy="365760"/>
          </a:xfrm>
          <a:prstGeom prst="rect">
            <a:avLst/>
          </a:prstGeom>
          <a:noFill/>
          <a:ln/>
        </p:spPr>
        <p:txBody>
          <a:bodyPr wrap="square" lIns="0" tIns="0" rIns="0" bIns="0" rtlCol="0" anchor="ctr"/>
          <a:lstStyle/>
          <a:p>
            <a:pPr indent="0" marL="0">
              <a:buNone/>
            </a:pPr>
            <a:r>
              <a:rPr lang="en-US" sz="1400" i="1" dirty="0">
                <a:solidFill>
                  <a:srgbClr val="9A6700"/>
                </a:solidFill>
              </a:rPr>
              <a:t>Target angka: [__ , ditetapkan setelah fase 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Key risks dan keputusan yang dibutuhkan hari ini</a:t>
            </a:r>
            <a:endParaRPr lang="en-US" sz="28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99AE"/>
                </a:solidFill>
              </a:rPr>
              <a:t>TLab CRM  |  Product</a:t>
            </a:r>
            <a:endParaRPr lang="en-US" sz="1000" dirty="0"/>
          </a:p>
        </p:txBody>
      </p:sp>
      <p:sp>
        <p:nvSpPr>
          <p:cNvPr id="4" name="Text 2"/>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1000" dirty="0">
                <a:solidFill>
                  <a:srgbClr val="8D99AE"/>
                </a:solidFill>
              </a:rPr>
              <a:t>23</a:t>
            </a:r>
            <a:endParaRPr lang="en-US" sz="1000" dirty="0"/>
          </a:p>
        </p:txBody>
      </p:sp>
      <p:sp>
        <p:nvSpPr>
          <p:cNvPr id="5" name="card"/>
          <p:cNvSpPr/>
          <p:nvPr/>
        </p:nvSpPr>
        <p:spPr>
          <a:xfrm>
            <a:off x="548640" y="1371600"/>
            <a:ext cx="4754880" cy="4754880"/>
          </a:xfrm>
          <a:prstGeom prst="roundRect">
            <a:avLst>
              <a:gd name="adj" fmla="val 1538"/>
            </a:avLst>
          </a:prstGeom>
          <a:solidFill>
            <a:srgbClr val="EEF1F7"/>
          </a:solidFill>
          <a:ln w="12700">
            <a:solidFill>
              <a:srgbClr val="EEF1F7"/>
            </a:solidFill>
            <a:prstDash val="solid"/>
          </a:ln>
        </p:spPr>
      </p:sp>
      <p:sp>
        <p:nvSpPr>
          <p:cNvPr id="6" name="Text 4"/>
          <p:cNvSpPr txBox="1"/>
          <p:nvPr/>
        </p:nvSpPr>
        <p:spPr>
          <a:xfrm>
            <a:off x="822960" y="1508760"/>
            <a:ext cx="4206240" cy="457200"/>
          </a:xfrm>
          <a:prstGeom prst="rect">
            <a:avLst/>
          </a:prstGeom>
          <a:noFill/>
          <a:ln/>
        </p:spPr>
        <p:txBody>
          <a:bodyPr wrap="square" lIns="0" tIns="0" rIns="0" bIns="0" rtlCol="0" anchor="ctr"/>
          <a:lstStyle/>
          <a:p>
            <a:pPr indent="0" marL="0">
              <a:buNone/>
            </a:pPr>
            <a:r>
              <a:rPr lang="en-US" sz="2200" b="1" dirty="0">
                <a:solidFill>
                  <a:srgbClr val="D1495B"/>
                </a:solidFill>
                <a:latin typeface="Cambria" pitchFamily="34" charset="0"/>
                <a:ea typeface="Cambria" pitchFamily="34" charset="-122"/>
                <a:cs typeface="Cambria" pitchFamily="34" charset="-120"/>
              </a:rPr>
              <a:t>Key risks</a:t>
            </a:r>
            <a:endParaRPr lang="en-US" sz="2200" dirty="0"/>
          </a:p>
        </p:txBody>
      </p:sp>
      <p:sp>
        <p:nvSpPr>
          <p:cNvPr id="7" name="Text 5"/>
          <p:cNvSpPr txBox="1"/>
          <p:nvPr/>
        </p:nvSpPr>
        <p:spPr>
          <a:xfrm>
            <a:off x="822960" y="2103120"/>
            <a:ext cx="4206240" cy="3840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B1F2A"/>
                </a:solidFill>
              </a:rPr>
              <a:t>Pricing belum tervalidasi</a:t>
            </a:r>
            <a:endParaRPr lang="en-US" sz="1600" dirty="0"/>
          </a:p>
          <a:p>
            <a:pPr marL="203200" indent="-203200">
              <a:spcAft>
                <a:spcPts val="800"/>
              </a:spcAft>
              <a:buSzPct val="100000"/>
              <a:buChar char="•"/>
            </a:pPr>
            <a:r>
              <a:rPr lang="en-US" sz="1600" dirty="0">
                <a:solidFill>
                  <a:srgbClr val="1B1F2A"/>
                </a:solidFill>
              </a:rPr>
              <a:t>AI cost belum terukur</a:t>
            </a:r>
            <a:endParaRPr lang="en-US" sz="1600" dirty="0"/>
          </a:p>
          <a:p>
            <a:pPr marL="203200" indent="-203200">
              <a:spcAft>
                <a:spcPts val="800"/>
              </a:spcAft>
              <a:buSzPct val="100000"/>
              <a:buChar char="•"/>
            </a:pPr>
            <a:r>
              <a:rPr lang="en-US" sz="1600" dirty="0">
                <a:solidFill>
                  <a:srgbClr val="1B1F2A"/>
                </a:solidFill>
              </a:rPr>
              <a:t>Sales cycle korporasi panjang</a:t>
            </a:r>
            <a:endParaRPr lang="en-US" sz="1600" dirty="0"/>
          </a:p>
          <a:p>
            <a:pPr marL="203200" indent="-203200">
              <a:spcAft>
                <a:spcPts val="800"/>
              </a:spcAft>
              <a:buSzPct val="100000"/>
              <a:buChar char="•"/>
            </a:pPr>
            <a:r>
              <a:rPr lang="en-US" sz="1600" dirty="0">
                <a:solidFill>
                  <a:srgbClr val="1B1F2A"/>
                </a:solidFill>
              </a:rPr>
              <a:t>SSO dan audit log belum tersedia</a:t>
            </a:r>
            <a:endParaRPr lang="en-US" sz="1600" dirty="0"/>
          </a:p>
          <a:p>
            <a:pPr marL="203200" indent="-203200">
              <a:spcAft>
                <a:spcPts val="800"/>
              </a:spcAft>
              <a:buSzPct val="100000"/>
              <a:buChar char="•"/>
            </a:pPr>
            <a:r>
              <a:rPr lang="en-US" sz="1600" dirty="0">
                <a:solidFill>
                  <a:srgbClr val="1B1F2A"/>
                </a:solidFill>
              </a:rPr>
              <a:t>Brand masih baru di pasar</a:t>
            </a:r>
            <a:endParaRPr lang="en-US" sz="1600" dirty="0"/>
          </a:p>
        </p:txBody>
      </p:sp>
      <p:sp>
        <p:nvSpPr>
          <p:cNvPr id="8" name="card"/>
          <p:cNvSpPr/>
          <p:nvPr/>
        </p:nvSpPr>
        <p:spPr>
          <a:xfrm>
            <a:off x="5577840" y="1371600"/>
            <a:ext cx="6035040" cy="4754880"/>
          </a:xfrm>
          <a:prstGeom prst="roundRect">
            <a:avLst>
              <a:gd name="adj" fmla="val 1538"/>
            </a:avLst>
          </a:prstGeom>
          <a:solidFill>
            <a:srgbClr val="14213D"/>
          </a:solidFill>
          <a:ln w="12700">
            <a:solidFill>
              <a:srgbClr val="14213D"/>
            </a:solidFill>
            <a:prstDash val="solid"/>
          </a:ln>
        </p:spPr>
      </p:sp>
      <p:sp>
        <p:nvSpPr>
          <p:cNvPr id="9" name="Text 7"/>
          <p:cNvSpPr txBox="1"/>
          <p:nvPr/>
        </p:nvSpPr>
        <p:spPr>
          <a:xfrm>
            <a:off x="5852160" y="1508760"/>
            <a:ext cx="5486400" cy="457200"/>
          </a:xfrm>
          <a:prstGeom prst="rect">
            <a:avLst/>
          </a:prstGeom>
          <a:noFill/>
          <a:ln/>
        </p:spPr>
        <p:txBody>
          <a:bodyPr wrap="square" lIns="0" tIns="0" rIns="0" bIns="0" rtlCol="0" anchor="ctr"/>
          <a:lstStyle/>
          <a:p>
            <a:pPr indent="0" marL="0">
              <a:buNone/>
            </a:pPr>
            <a:r>
              <a:rPr lang="en-US" sz="2200" b="1" dirty="0">
                <a:solidFill>
                  <a:srgbClr val="F5A524"/>
                </a:solidFill>
                <a:latin typeface="Cambria" pitchFamily="34" charset="0"/>
                <a:ea typeface="Cambria" pitchFamily="34" charset="-122"/>
                <a:cs typeface="Cambria" pitchFamily="34" charset="-120"/>
              </a:rPr>
              <a:t>The ask</a:t>
            </a:r>
            <a:endParaRPr lang="en-US" sz="2200" dirty="0"/>
          </a:p>
        </p:txBody>
      </p:sp>
      <p:sp>
        <p:nvSpPr>
          <p:cNvPr id="10" name="Shape 8"/>
          <p:cNvSpPr/>
          <p:nvPr/>
        </p:nvSpPr>
        <p:spPr>
          <a:xfrm>
            <a:off x="5852160" y="2194560"/>
            <a:ext cx="502920" cy="502920"/>
          </a:xfrm>
          <a:prstGeom prst="ellipse">
            <a:avLst/>
          </a:prstGeom>
          <a:solidFill>
            <a:srgbClr val="F5A524"/>
          </a:solidFill>
          <a:ln w="12700">
            <a:solidFill>
              <a:srgbClr val="F5A524"/>
            </a:solidFill>
            <a:prstDash val="solid"/>
          </a:ln>
        </p:spPr>
      </p:sp>
      <p:sp>
        <p:nvSpPr>
          <p:cNvPr id="11" name="Text 9"/>
          <p:cNvSpPr txBox="1"/>
          <p:nvPr/>
        </p:nvSpPr>
        <p:spPr>
          <a:xfrm>
            <a:off x="5852160" y="219456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1</a:t>
            </a:r>
            <a:endParaRPr lang="en-US" sz="1600" dirty="0"/>
          </a:p>
        </p:txBody>
      </p:sp>
      <p:sp>
        <p:nvSpPr>
          <p:cNvPr id="12" name="Text 10"/>
          <p:cNvSpPr txBox="1"/>
          <p:nvPr/>
        </p:nvSpPr>
        <p:spPr>
          <a:xfrm>
            <a:off x="6537960" y="2148840"/>
            <a:ext cx="4846320" cy="868680"/>
          </a:xfrm>
          <a:prstGeom prst="rect">
            <a:avLst/>
          </a:prstGeom>
          <a:noFill/>
          <a:ln/>
        </p:spPr>
        <p:txBody>
          <a:bodyPr wrap="square" lIns="0" tIns="0" rIns="0" bIns="0" rtlCol="0" anchor="ctr"/>
          <a:lstStyle/>
          <a:p>
            <a:pPr indent="0" marL="0">
              <a:buNone/>
            </a:pPr>
            <a:r>
              <a:rPr lang="en-US" sz="1500" dirty="0">
                <a:solidFill>
                  <a:srgbClr val="FFFFFF"/>
                </a:solidFill>
              </a:rPr>
              <a:t>Approve target market perusahaan menengah-besar dengan annual upfront contract</a:t>
            </a:r>
            <a:endParaRPr lang="en-US" sz="1500" dirty="0"/>
          </a:p>
        </p:txBody>
      </p:sp>
      <p:sp>
        <p:nvSpPr>
          <p:cNvPr id="13" name="Shape 11"/>
          <p:cNvSpPr/>
          <p:nvPr/>
        </p:nvSpPr>
        <p:spPr>
          <a:xfrm>
            <a:off x="5852160" y="3154680"/>
            <a:ext cx="502920" cy="502920"/>
          </a:xfrm>
          <a:prstGeom prst="ellipse">
            <a:avLst/>
          </a:prstGeom>
          <a:solidFill>
            <a:srgbClr val="F5A524"/>
          </a:solidFill>
          <a:ln w="12700">
            <a:solidFill>
              <a:srgbClr val="F5A524"/>
            </a:solidFill>
            <a:prstDash val="solid"/>
          </a:ln>
        </p:spPr>
      </p:sp>
      <p:sp>
        <p:nvSpPr>
          <p:cNvPr id="14" name="Text 12"/>
          <p:cNvSpPr txBox="1"/>
          <p:nvPr/>
        </p:nvSpPr>
        <p:spPr>
          <a:xfrm>
            <a:off x="5852160" y="315468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6537960" y="3108960"/>
            <a:ext cx="4846320" cy="868680"/>
          </a:xfrm>
          <a:prstGeom prst="rect">
            <a:avLst/>
          </a:prstGeom>
          <a:noFill/>
          <a:ln/>
        </p:spPr>
        <p:txBody>
          <a:bodyPr wrap="square" lIns="0" tIns="0" rIns="0" bIns="0" rtlCol="0" anchor="ctr"/>
          <a:lstStyle/>
          <a:p>
            <a:pPr indent="0" marL="0">
              <a:buNone/>
            </a:pPr>
            <a:r>
              <a:rPr lang="en-US" sz="1500" dirty="0">
                <a:solidFill>
                  <a:srgbClr val="FFFFFF"/>
                </a:solidFill>
              </a:rPr>
              <a:t>Approve pengukuran AI dan infrastructure cost mulai sekarang</a:t>
            </a:r>
            <a:endParaRPr lang="en-US" sz="1500" dirty="0"/>
          </a:p>
        </p:txBody>
      </p:sp>
      <p:sp>
        <p:nvSpPr>
          <p:cNvPr id="16" name="Shape 14"/>
          <p:cNvSpPr/>
          <p:nvPr/>
        </p:nvSpPr>
        <p:spPr>
          <a:xfrm>
            <a:off x="5852160" y="4114800"/>
            <a:ext cx="502920" cy="502920"/>
          </a:xfrm>
          <a:prstGeom prst="ellipse">
            <a:avLst/>
          </a:prstGeom>
          <a:solidFill>
            <a:srgbClr val="F5A524"/>
          </a:solidFill>
          <a:ln w="12700">
            <a:solidFill>
              <a:srgbClr val="F5A524"/>
            </a:solidFill>
            <a:prstDash val="solid"/>
          </a:ln>
        </p:spPr>
      </p:sp>
      <p:sp>
        <p:nvSpPr>
          <p:cNvPr id="17" name="Text 15"/>
          <p:cNvSpPr txBox="1"/>
          <p:nvPr/>
        </p:nvSpPr>
        <p:spPr>
          <a:xfrm>
            <a:off x="5852160" y="411480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6537960" y="4069080"/>
            <a:ext cx="4846320" cy="868680"/>
          </a:xfrm>
          <a:prstGeom prst="rect">
            <a:avLst/>
          </a:prstGeom>
          <a:noFill/>
          <a:ln/>
        </p:spPr>
        <p:txBody>
          <a:bodyPr wrap="square" lIns="0" tIns="0" rIns="0" bIns="0" rtlCol="0" anchor="ctr"/>
          <a:lstStyle/>
          <a:p>
            <a:pPr indent="0" marL="0">
              <a:buNone/>
            </a:pPr>
            <a:r>
              <a:rPr lang="en-US" sz="1500" dirty="0">
                <a:solidFill>
                  <a:srgbClr val="FFFFFF"/>
                </a:solidFill>
              </a:rPr>
              <a:t>Tunjuk kandidat design partner</a:t>
            </a:r>
            <a:endParaRPr lang="en-US" sz="1500" dirty="0"/>
          </a:p>
        </p:txBody>
      </p:sp>
      <p:sp>
        <p:nvSpPr>
          <p:cNvPr id="19" name="Shape 17"/>
          <p:cNvSpPr/>
          <p:nvPr/>
        </p:nvSpPr>
        <p:spPr>
          <a:xfrm>
            <a:off x="5852160" y="5074920"/>
            <a:ext cx="502920" cy="502920"/>
          </a:xfrm>
          <a:prstGeom prst="ellipse">
            <a:avLst/>
          </a:prstGeom>
          <a:solidFill>
            <a:srgbClr val="F5A524"/>
          </a:solidFill>
          <a:ln w="12700">
            <a:solidFill>
              <a:srgbClr val="F5A524"/>
            </a:solidFill>
            <a:prstDash val="solid"/>
          </a:ln>
        </p:spPr>
      </p:sp>
      <p:sp>
        <p:nvSpPr>
          <p:cNvPr id="20" name="Text 18"/>
          <p:cNvSpPr txBox="1"/>
          <p:nvPr/>
        </p:nvSpPr>
        <p:spPr>
          <a:xfrm>
            <a:off x="5852160" y="507492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6537960" y="5029200"/>
            <a:ext cx="4846320" cy="868680"/>
          </a:xfrm>
          <a:prstGeom prst="rect">
            <a:avLst/>
          </a:prstGeom>
          <a:noFill/>
          <a:ln/>
        </p:spPr>
        <p:txBody>
          <a:bodyPr wrap="square" lIns="0" tIns="0" rIns="0" bIns="0" rtlCol="0" anchor="ctr"/>
          <a:lstStyle/>
          <a:p>
            <a:pPr indent="0" marL="0">
              <a:buNone/>
            </a:pPr>
            <a:r>
              <a:rPr lang="en-US" sz="1500" dirty="0">
                <a:solidFill>
                  <a:srgbClr val="FFFFFF"/>
                </a:solidFill>
              </a:rPr>
              <a:t>Approve urutan roadmap: fondasi komersial dulu, lalu AI dan omnichannel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2103120"/>
            <a:ext cx="10515600"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Section 2: Technical</a:t>
            </a:r>
            <a:endParaRPr lang="en-US" sz="4400" dirty="0"/>
          </a:p>
        </p:txBody>
      </p:sp>
      <p:sp>
        <p:nvSpPr>
          <p:cNvPr id="3" name="Text 1"/>
          <p:cNvSpPr txBox="1"/>
          <p:nvPr/>
        </p:nvSpPr>
        <p:spPr>
          <a:xfrm>
            <a:off x="731520" y="3566160"/>
            <a:ext cx="9601200" cy="1097280"/>
          </a:xfrm>
          <a:prstGeom prst="rect">
            <a:avLst/>
          </a:prstGeom>
          <a:noFill/>
          <a:ln/>
        </p:spPr>
        <p:txBody>
          <a:bodyPr wrap="square" lIns="0" tIns="0" rIns="0" bIns="0" rtlCol="0" anchor="t"/>
          <a:lstStyle/>
          <a:p>
            <a:pPr indent="0" marL="0">
              <a:buNone/>
            </a:pPr>
            <a:r>
              <a:rPr lang="en-US" sz="2000" dirty="0">
                <a:solidFill>
                  <a:srgbClr val="CADCFC"/>
                </a:solidFill>
              </a:rPr>
              <a:t>Dipresentasikan oleh tim engineering. Materi menyusul setelah brief dari tim teknis.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2103120"/>
            <a:ext cx="10515600"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Section 3: Product Demo</a:t>
            </a:r>
            <a:endParaRPr lang="en-US" sz="4400" dirty="0"/>
          </a:p>
        </p:txBody>
      </p:sp>
      <p:sp>
        <p:nvSpPr>
          <p:cNvPr id="3" name="Text 1"/>
          <p:cNvSpPr txBox="1"/>
          <p:nvPr/>
        </p:nvSpPr>
        <p:spPr>
          <a:xfrm>
            <a:off x="731520" y="3566160"/>
            <a:ext cx="9601200" cy="1097280"/>
          </a:xfrm>
          <a:prstGeom prst="rect">
            <a:avLst/>
          </a:prstGeom>
          <a:noFill/>
          <a:ln/>
        </p:spPr>
        <p:txBody>
          <a:bodyPr wrap="square" lIns="0" tIns="0" rIns="0" bIns="0" rtlCol="0" anchor="t"/>
          <a:lstStyle/>
          <a:p>
            <a:pPr indent="0" marL="0">
              <a:buNone/>
            </a:pPr>
            <a:r>
              <a:rPr lang="en-US" sz="2000" dirty="0">
                <a:solidFill>
                  <a:srgbClr val="CADCFC"/>
                </a:solidFill>
              </a:rPr>
              <a:t>Live demo aplikasi, dipandu oleh tim QA.</a:t>
            </a:r>
            <a:endParaRPr lang="en-US" sz="2000" dirty="0"/>
          </a:p>
        </p:txBody>
      </p:sp>
    </p:spTree>
  </p:cSld>
  <p:clrMapOvr>
    <a:masterClrMapping/>
  </p:clrMapOvr>
</p:sld>
</file>

<file path=ppt/theme/theme1.xml><?xml version="1.0" encoding="utf-8"?>
<a:theme xmlns:a="http://schemas.openxmlformats.org/drawingml/2006/main" name="TLab CRM">
  <a:themeElements>
    <a:clrScheme name="TLab CRM">
      <a:dk1>
        <a:srgbClr val="1B1F2A"/>
      </a:dk1>
      <a:lt1>
        <a:srgbClr val="FFFFFF"/>
      </a:lt1>
      <a:dk2>
        <a:srgbClr val="14213D"/>
      </a:dk2>
      <a:lt2>
        <a:srgbClr val="EEF1F7"/>
      </a:lt2>
      <a:accent1>
        <a:srgbClr val="14213D"/>
      </a:accent1>
      <a:accent2>
        <a:srgbClr val="6D4AFF"/>
      </a:accent2>
      <a:accent3>
        <a:srgbClr val="F5A524"/>
      </a:accent3>
      <a:accent4>
        <a:srgbClr val="2A9D8F"/>
      </a:accent4>
      <a:accent5>
        <a:srgbClr val="D1495B"/>
      </a:accent5>
      <a:accent6>
        <a:srgbClr val="8D99AE"/>
      </a:accent6>
      <a:hlink>
        <a:srgbClr val="6D4AFF"/>
      </a:hlink>
      <a:folHlink>
        <a:srgbClr val="8D99AE"/>
      </a:folHlink>
    </a:clrScheme>
    <a:fontScheme name="TLab C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TLab CRM - Product Presentation</dc:title>
  <dc:subject>PptxGenJS Presentation</dc:subject>
  <dc:creator>PptxGenJS</dc:creator>
  <cp:lastModifiedBy>PptxGenJS</cp:lastModifiedBy>
  <cp:revision>1</cp:revision>
  <dcterms:created xsi:type="dcterms:W3CDTF">2026-10-14T04:47:32Z</dcterms:created>
  <dcterms:modified xsi:type="dcterms:W3CDTF">2026-10-14T04:47:32Z</dcterms:modified>
</cp:coreProperties>
</file>